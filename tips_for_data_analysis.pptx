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1" r:id="rId2"/>
    <p:sldId id="272" r:id="rId3"/>
    <p:sldId id="273" r:id="rId4"/>
    <p:sldId id="257" r:id="rId5"/>
    <p:sldId id="274" r:id="rId6"/>
    <p:sldId id="256" r:id="rId7"/>
    <p:sldId id="262" r:id="rId8"/>
    <p:sldId id="268" r:id="rId9"/>
    <p:sldId id="276" r:id="rId10"/>
    <p:sldId id="261" r:id="rId11"/>
    <p:sldId id="278" r:id="rId12"/>
    <p:sldId id="263" r:id="rId13"/>
    <p:sldId id="277" r:id="rId14"/>
    <p:sldId id="284" r:id="rId15"/>
    <p:sldId id="280" r:id="rId16"/>
    <p:sldId id="266" r:id="rId17"/>
    <p:sldId id="282" r:id="rId18"/>
    <p:sldId id="285" r:id="rId19"/>
    <p:sldId id="286" r:id="rId20"/>
    <p:sldId id="283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45" autoAdjust="0"/>
    <p:restoredTop sz="73784" autoAdjust="0"/>
  </p:normalViewPr>
  <p:slideViewPr>
    <p:cSldViewPr snapToGrid="0">
      <p:cViewPr varScale="1">
        <p:scale>
          <a:sx n="83" d="100"/>
          <a:sy n="83" d="100"/>
        </p:scale>
        <p:origin x="22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D5D3E-9D67-40E7-80C5-3945ADFDF8F5}" type="datetimeFigureOut">
              <a:rPr lang="ru-RU" smtClean="0"/>
              <a:t>24.08.2025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9D154-A724-4E15-B3C6-316EDC27E4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2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שלום, שמי יבגני קולונסקי.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היום אני בכובע של מרצה בכיר במתמטיקה יישומית.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יוליה הזמנה אותי לתת לכם כמה טיפים טובים בניתוח תוצאות מדידה כדי שתוכלו להשתמש בהם גם במחקר וגם בהוראה. הטיפ הראשון - קצת טריוויאלי אבל טוב - בבקשה תשתמשו בממוצע משוקלל.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09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תזכורת קטנה על ממוצע אריתמטי.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אם יצא כך שמדדנו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מדידות, אנחנו כמעט אוטומטית נוטים לחשב ממוצע אריתמטי וגם כך אנחנו מלמדים את הסטודנטים.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בסדר גמור! רק צריך לזכור שזה תיקף בשתי הנחות: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א') המדידות היו בלתי תלויות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ב') כל מדידה שייכת לאותה ההתפלגות האקראית גאוסיאנית.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כאשר זה נכון, חוץ מזה שאנחנו יכולים לחשב את הממוצע,  ולתאר בעזרתו את המדידה שלנו, אנחנו גם יכולים לחשב סטיית תקן וגם סטיית התקן של הממוצע הזה. מעולה!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מה לעשות אם מדידות לא שייכות לאותה ההתפלגות?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לדוגמה ניקח מדידה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ששייכת להתפלגות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ומדידה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XB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ששייכת להתפלגות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שתי המדידות קרובות אחת לשנייה בטווח השגיאה.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נרצה למקסם את פונקציית ההסתברות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שהיא מכפלה של הסתברויות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והסתברות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למקסם את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נצטרך לפתור את המשווה הזאת.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הפתרון של המשוואה נותן לנו הגדרה של ממוצע משוקלל וסטית התקן החדשה.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נוח להגדיר אחד חלקי סיגמא בריבוע של מדידת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כ"משקל" של מדידה 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וסיגמא בריבוע של מדידת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כ"משקל" של מדידה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9153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עכשיו אתן לכם דוגמה פשוטה וברורה.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בניסוי של מעבדה 2 "קבל לוחות" אנחנו מודדים קיבול בכמה דרכים.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מציג לכם רק שתי שיטות: השיטה המבוססת פריקה והשיטה הגאומטרית.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בשיטת הפריקה קיבלנו ערך של הקיבול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445-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פיקו-פאראד עם שגיאה 10 פיקו-פאראד.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בשיטה הגאומטרית קיבלנו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430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פיקו-פאראד עם שגיאה של 20 פיקו-פאראד.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שאלת קיטבג: מה יותר נכון לעשות – לחשב ממוצע אריתמטי או משוקלל? נכון!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79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רואה שאתם בפוקוס מלא, זאת אומרת הגיע זמן לקוד קצר נחמד.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רושם קיבול עם שגיאה שלו לכול שיטה בצורה קריאה ומשׂמחת עין.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אחרי זה מחשב משקל של כל מדידה, ממוצע משוקלל וסטיית תקן חדשה.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יצא לי ארבע מאות ארבעים ושניים פיקו-פאראד.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 קצת לא צפוי, נכון?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גם פחות צפוי ששגיאה למדידה ששקללנו – קָטְנה!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מעניין, נכון? אני ממליץ בחום!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713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עכשיו אני רוצה להזכיר לכם איך להשתמש במבחן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ואולי אצליח לשכנע אותכם להשתמש בו בהוראה.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כמה מכם כבר משתמשים בו בהוראה? מעולה! כל הכבוד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 שלא כול כך משתמש עדיין – אל דאגו – אספר בצורה קלילה עם דוגמאות.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825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נתחיל מהגדרה מספיק מדויקת למטרות שלנו.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נעשה ניסוי מחשבתי אידאלי, ונקבל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מדידות.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כל מדידה שלנו עמוסה בשגיאה אקראית כלשהי שמפולגת גאוסיאנית עם סטיית תקן.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נניח יש לנו גם מודל מתמטי שיכול לתת ערך צפוי לכל מדידה.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בתנאים האלה נוכל לחשב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לפי הנוסחה (). מעולה.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כבר ערך מעניין אבל יותר נוח להשתמש ב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665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הגדרת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מאוד פשוטה – זה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חלקי מספר דרגות חופש.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קל להגדיר מבחן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על ידי המספר הזה.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באופן גס: אם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יותר גדול משמעותית מ1 – המדידות שלנו לא תואמות 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או במילים אחרות הסתברות לחפיפה בין מדידות וערך הצפוי קנטה עד זניחה.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כאשר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קטן מאחד כבר יש על מה לדבר.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מיד מביא לכם דוגמה פשוטה.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רק חשוב לי להזכיר לכם מה כוונה מאחורי מושג "דרגות חופש"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313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נניח מדדתי 10 מדידות או יותר מדויק להגיד 10 זוגות -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.המודל שבחרתי מניח שיש קשר פולינומיאלי בחזקה 2 בין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לבחירתי 3 אופציות התאמה: איבר ריבוע בלבד, איבר ריבועי פלוס אופ-סט, או איבר ריבועי פלוס איבר לינארי פלוס אופ-סט.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במקרה הראשון יהיה 9 דרגות חופש, במקרה השני – שמונה דרגו חופש ו במקרה השלישי – שבע דרגות חופש.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לבדוק שלא נרדמתם כבר עכשיו אני אשאל: מה יותר טוב – יותר דרגות חופש או פחות? מעולה.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מתקדמים הלאה ונבדוק על הדוגמה.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1078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ניקח דוגמה של אלקטרון חופשי נע בשדה חשמלי אחיד ניצב למהירות של האלקטרון.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דוגמה מוכרת ופשוטה.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אלקטרון מואץ בעזרת אלקטרודות האצה ונכנס לשדה אחיד של קבל לוחות.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תחת השפעה של השדה החשמלי של הלוחות אלקטרון מוסט לכיוון אחד מהלוחות - תלוי בסימן המטען של הלוח.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המסלול שאלקטרון יעשה בין הלוחות יהיה פרבולי לפי המודל הכי פשוט.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האם יש צורך להזכיר איך מקבלים את הביטוי? מעולה, לא צריך.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 אתם רואים בתמונה – אנחנו הולכים למדוד ולבדוק את זה.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5784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algn="l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כמו שרואים בעין – המסלול בוודאות לא לינארי.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מסקנה איכותנית.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מעוניינים לקבל מסקנה כמותית.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בעזרת קנהֶ מידה שיש בתמונה (כל ריבוע הוא סנטימטר לסנטימטר), נוכל להפוך את המידע ויזואלי לזוגות מדידות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מעולה. אני באופן ידני סימנתי 7 מדידות וחישבתי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1077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בוא נקרא ביחד קוד קצר שכתבתי – הוא קל וקריא.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נעשה יבוא של הספרייה הנדרשת.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נרשום זוגות מדידות שלנו. אני אוהב לעשות ככה.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כאן – נקודה חשובה!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כל מדידה צריכה להיות מלווה בערכת שגיאה שלה.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לפעמים הערכה נוּבעַת מהרבה מדידות ואנחנו מסוגלים לחשב סטיית תקן, ולפעמים יש רק מדידה בדידה ואנחנו עושים עכרת שגיאה משיקולים אחרים.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במקרה הזה אני מעריך שגיאה כחצי מילימטר.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אתם חושבים על הערכה שלי?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פסימית? אופטימית? אופטימלית? נראה ביחד.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אחרי זה אני מגדיר 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מיד אחרי זה עושה התאמה ומחשב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שאתם רואים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יצא 0.64.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טוב לדעתכם?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זוכרים את המבחן שהצגתי לכם לפני 5 דקות?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נכון, זה טוב, כי פחות מ1.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כבר יש לנו קריטריון כזה המום וקוראים לו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למה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יותר טוב?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420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מי שיודע תְכוּנוֹת של התפלגות חי, הוא יכול לתת מסקנה עמוקה במבוססת.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זה התפלגות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אחת מההתפלגויות סטטיסטיות ידועות כמו שהתפלגות פואסונית או גאוסיאנית.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בשקף הזה הצגתי אותה לכמה פרמטרים רלוונטיים לדיון שלנו.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ננסה להבין מה נותנת לנו את ההתפלגות הזאת.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קיבלנו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0.64. מעולה.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בציר אופקי אני אמצא את 0.64 בערך.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זוכר שמספר דרגות חופש היה 6.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הקו הכחול נותן לי הסתברות 70%. אוקי.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בואו נחבר הכול ביחד למסקנה: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מדדתי 7 מדידות עם שגיאת מדידה חצי מילימטר,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הנחתי מודל פרבולי עם פרמטר התאמה אחד,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חישבתי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שאומר  -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הסתברות שהמודל המתמטי הזה תקף לסט של המדידות היא – 70%. וואו!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תשובה מבוססת.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בלי אפילו לראות איך נתונים יושבים על הקו.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37826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בכל זאת נראה התאמה גם בצורה גרפית.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טוב לי 70%? איך אפשר לשפר? נכון!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גם מהתפלגות אנחנו רואים שכדאי לנו למדוד יותר זוגות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968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לקחתי 20 מדידות עם שגיאת מדידה חצי מילימטר,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הנחתי מודל פרבולי עם פרמטר התאמה אחד,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חישבתי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 שאומר  -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הסתברות שהמודל המתמטי הזה תָקַף לסט של 20 מדידות היא – 93%.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להדגיש כאן שני היתרונות של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מצומצם: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א') הוא נותן הערכה סטטיסטית לסיכוי התאמה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ב') הוא מתייחס לדיוק של המדידות!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ולא רק מתייחס הוא גם מאוד רגיש להערכת שגיאה.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מיד נותן דוגמה...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7658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החלטתי להקטין הערכת שגיאה לחצי.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במקום חצי מילימטר – אניח שהשגיאה היא רבע מילימטר.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לאותו סט הנתונים קיבלתי הסתברות 1%!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המודל כבר לא מסוגל לתאר את הנותנים למרות שוויזואלית עדיין יש רוֹשֶם של התאמה.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404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הצלחתי לשכנע אותם ש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דבר טוב יותר מאר בריבוע?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1586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נשאר לנו עוד פרק מאוד מעניין של אנליזת נתונים.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אתחיל אותו מתזכורת קצרה על רגרסיה לינארית.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0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זה כלי קלאסי אמין ומפורסם.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כולכם משתמשים ברגרסיה לינארית להוראה ואני רק רוצה להזכיר את ההנחות בה רגרסיה מוגדרת היטב.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ההנחה הראשונה ששגיאה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משמעותית קטנה (זניחה) משגיאה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שנית - מאוד חשוב שכל נקודה תהיה עמוסה בשגיאה זהה בציר 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41FE1-24E3-44D6-A7AB-44791E971AE0}" type="slidenum">
              <a:rPr lang="he-IL" smtClean="0"/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5956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מתִגרוּל פייתון של מעבדה 2 אנחנו יודעים שאפשר לחשב רגרסיה על ידי קוד פשוט בעזרת ספריה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linregress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 הזנתי תוצאות מדידה לשני וקטורים. אני מגדיר רגרסיה ומחשב שיפוע ונקודת חיתוך עם 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אלה תוצאות החישוב. מצוין.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3064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כאשר לפי המודל התאורטי אני צריך לקבּע איבר חופשי כאפס אני בבעיה עם הקוד שכתבתי לפני.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הספריה לא מאפשר לאפס איבר חופשי בכוח.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מציע לכם פתרון.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בבקשה תגידו מה אתם חושבים על זה.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מציע לחשב שיפוע לכל זוג נתונים לכוד.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בהנחה ששגיאה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זניחה אני יכול להגיד ששגיאה יחסית בשיפוע שווה של שגיאה יחסית 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ו...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8043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אפשר ליישׂם ממוצע משוקלל שהסברתי לכם קודם! מגניב!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תראו אני מגדיר את פונקציית הממוצע המשוקלל ומחשב את השיפוע והשגיאה שלו.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לרוב המקרים או מודל לא לינאריים או מדידה עקיפה. כמו שידוע לכם אנחנו משתדלים לבחור לינאריזציה מתאימה למודל כדי בכל זאת להשתמש ברגרסיה לינארית – כול כך אנחנו אוהבים אותה.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אראה לכם כמה דוגמאות.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77756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במעבדה 4 יש ניסוי יחסית פשוט - בליעת קרינת </a:t>
            </a:r>
            <a:r>
              <a:rPr lang="el-G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γ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על ידי פלטות של עופרת בעוביים שונים.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אנחנו ממקמים פלטה מעופרת בין מקור הקרינה לגלאי וסופרים קריאות של הגלאי.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תאורטית אנחנו מצפים קשר אקספוננציאלי בין קצב הקרינה ועובי של בולע מעופרת.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מהנדסים ניסוי כך ששגיאה בכל מדידה תהיה כ3%.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נרצה לעשות לינאריזציה למודל. מצוין!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למה? כי שמרנו על הנחות לרגרסיה לינארית: מדדנו את העוביים בדיוק גבוה שמאפשר להזניח 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ושגיאות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כמעט זהות.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דוגמה מצוינת איך אפשר לעשות לינאריזציה כדי להשתמש ברגרסיה לינארית בגבולות הגְדַרַתֶיִהַ.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5007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עוד דוגמה. עכשיו ממעבדה 2.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אסביר בקצרה.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מחבְּרים קבל לוחות למֵחוֹלֵל אות חשמלי מרובע.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מאפשר לטעוֹן ולִפְרוֹק את הקבל העגול שאתם רואים בתמונה.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המודל מתאר את הפקירה הוא אקספוננציאלי.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מעוניין למדוד זמן הפריקה של הקבל ולחלץ ממנו קיבל.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שבמקרה הקודם עשיתי לינאריזציה למודל.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אני רואה בנתונים?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בזמנים ארוּכּים אני מגלה קִיוּם של ארטִפקט.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רואים מדרגות?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כן, זה קשור לאופן הפעולה של האוסצלוסקופ.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מה שיותר חשוב שהסיגנל המקורי שלנו היה מדוד עם אותו ערך השגיאה לכל נקודה.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אם אנחנו נצייר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ERRORBARS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הם יהיו שונים בסדרי גודל.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זה מונע מאיתנו להשתמש ברגרסיה לינארית בגדול.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אבל מה לעשות? בכל זאת נשתמש. רק קצת יותר חכם.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אקח רק מדידות מהחתלה עד לבערך אמצע ואעביר רגרסיה.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אני רואה שקודם כל זה יותר פיזיקאלי ושנית זה יותר מתאים לתוצאות של השיטות האחרות להערכה של קיבול.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בסדר גמור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739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ועוד הדוגמה האחרונה בנושא.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זאת דוגמה ממעבדה 3.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בניסוי של גלי מיקרו סטודנטים מתבקשים לבדוק שחוק מַאלוּס מתקיים.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החוק האמפירי הזה אומר שעוצמת הגל האלקטרו-מגנטי המקוּטַב של המֵשַדֵר לאחר עברה דרך המקטב תהיה פרופורציונלית לריבוע של קוסינוס הזווית של המקטב.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להוכיח את החוק מבקשים לעשות לינארזציה המתאימה לחוק מאלוס ולהראות שהקשר הוא לינארי.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כמו שאתם רואים בגרף אין טעם לעשות רגרסיה לינארית כי לפי העין רואים שאין התאמה.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חוץ מזה אנחנו לא עומדים אפילו קרוב לדרישה ששגיאה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זניחה ביחס לשגיאה בציר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בניסוי הזה – הפוך.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רציתי לוֹמָר – שלא תמיד אפשר וכדאי לעשות לינארזציה. 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מה לעשות??? נכון מאוד! התאמה לא לינארית.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5849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יאללה. ניקח דוגמה חמודה של התאמה לפונקציה מחזורית בעלת 4 פרמטרי התאמה.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דרך אגב זה מהניסוי מתנד הרמוני לא מרוסן.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נגדיר פונקציה מחזורית.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איתי?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לפעמים מומלץ גם להגדיר פרמטרי התחלה.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אתם רואים שיצאה התאמה איכותית. מעולה!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1830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כאשר יש ריסון אפילו קטן אנחנו צריכים להוסיף גם דעיכה למודל.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אנחנו מגלים שהתאמה לא מתכַּנֶסֶת.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באופן כללי כאשר יש במודל יותר פרמטרים לספרייה הזאת יותר "קשה" להתכנס.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כדי "לעזור" לאלגוריתם להתכנס אנחנו מגדירים גם גבולות השתנות של פרמטרי ההתאמה.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סוג של פיגומים לאלגוריתם.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7266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חחח. כן, עכשיו שישה פרמטרים.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שרציתי להראות לכם בדוגמה החישובית הזאת שכמעט שום דבר יותר לא עוזר לאלגוריתם להתכנס - חוץ מלדעת מראש את הערכים שאנחנו מחפשים.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קצת מצחיק, לא? לא נורא.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עכשיו אני אתן לכם טיפ מאה דולר. תרשמו.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3998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פשוט צריך להשתמש בספריות יודעות לחפש המינימום הגלובלי. כתבתי לנוחותכם קוד שמיישם ספרייה בשם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LMFIT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מכירים?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מה שחשוב לציין. אני ממליץ לכם להגדיר שיטה </a:t>
            </a:r>
            <a:r>
              <a:rPr lang="he-I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חיִשׁוּל כַפוּל</a:t>
            </a: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מי שרוצה לדעת על זה יותר מוזמן לדבר איתי!</a:t>
            </a:r>
            <a:br>
              <a:rPr lang="he-IL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95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תודה רבה על ריכוז ושיתוף הפעולה שלכם!</a:t>
            </a:r>
            <a:br>
              <a:rPr lang="he-IL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9D154-A724-4E15-B3C6-316EDC27E429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780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989B-F88C-4A23-A448-A0FE37FD3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2FC98-8C43-44DC-80BE-FF47798F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8C800-5DBA-4D36-8EB3-488A3C3F3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F1C2-15D3-4F1A-AB14-7ACB2E2BF1FF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FC77A-7B4C-4642-94A0-57060944F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FD2FA-30B6-47AC-9508-1798AD0D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4360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3C28-5096-498D-BD3F-21ED3E829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A355C-BC43-4F24-B866-8F5400CF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E1818-4140-4148-B551-AF54B0CC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40E3A-23C5-4A98-B50B-66BDB414ED83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4DEF5-4A0D-47E1-8E28-192BD335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7E85-1E60-4FC6-898E-01794B61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887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D00FB-FEC5-468D-8DB6-DF48EEA0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2F39A-961C-44F5-96C0-5A47E2E43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34029-0D5C-4A95-8999-949F6EA4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5183D-21AC-47F1-977A-AB8D6109575F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4FD8D-E1F5-4883-BA87-1955700A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FC614-7FA2-493E-9F0D-5FDD4D37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308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7879-AB47-4CA2-BB43-5AD8E61C6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9E65-DC04-49A4-B9B0-1F78D95594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60188-5EA2-4A8B-8BED-62FFBEC35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129A6-22D6-49D7-A594-FE386CAF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3CFB6-245A-4001-9523-D8342A22658C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8A359-B91B-486E-B806-9DDB9F5F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CE417-861D-4B31-BFEB-10D9659D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089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96E2-CD8E-490F-9D18-FE28F4B1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1426-F807-44E1-A32A-58EC6A7B1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FD8A0-7F6F-4E38-9C8B-BC9CC7EE9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9E282-31B9-4D03-BA9E-85B1B2984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A92D1-12A1-47AF-91F2-F07271C98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0CC1C-2206-4C10-B7B8-9176B3FF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CB78-5F5D-4277-91BC-5545FF2C2D75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04056D-C24D-4976-962C-27D0B9508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6EDDC-3C8E-4698-B08B-31B3B0E4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2607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7F2BF-AEF6-4DA9-8D97-35FF6113E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0A817-7176-453D-B20F-117B4C087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EA271-F022-4A4B-AA89-CC460A5CC065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BD9E6-E9D7-4195-A7D0-C58E7D53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8432C-5205-4CD1-9EAD-BF74BD91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588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E748B-0B4B-48A3-A1FA-89E818D1D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7E1A-64D9-46E7-8595-C249FCB3391E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F6E05-AA44-4B04-8E2E-2142E9B8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2FDC4-50C1-42D1-99FC-B099B484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494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D1C5-AB2A-462A-ADC1-CD62987DC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F9006-5D06-4711-A4DA-61A09AC8E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BF9BB3-DB5B-41BC-A696-E3B116F83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696EB-851E-413B-8313-9EC995424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3726-5005-4FD0-A3F3-B41C91019DE2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4F1B2-5EB2-42F5-BC5D-1F9AD0C8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1E3AB-94CA-4F35-B144-D06635B7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5108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92A1-048C-49ED-839B-62DDA155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C02627-FA07-4D0B-9C87-69CF18DF7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002C1-9945-4ED0-A3D7-4D949C79F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E3EE5-2BB5-47BC-9694-14B84EB3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AAFB3-CFFF-4EA9-8F48-92D88905327B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A99F-5DD2-407A-A6A1-32DC8B01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3C7E7-FF11-4DB0-AA35-A68E8E09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030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DD57-C143-44D5-8A08-4878CF920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AEC23-09C3-4C73-B3F7-4F4B227FD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60B4C-5806-4781-84EE-F63E56FEB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96A7C-4E06-4693-9707-413A50AB7371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B1BAC-A280-4A9E-B21F-7CFA17179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3F783-AC9C-4CF0-9079-6273C9E5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221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ED91EE-89F5-4AE0-89EB-EC7414446D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54F777-9BE1-43D6-B0F1-081B8BD96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5CB25-9614-4D3D-9D50-45841AAA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5DFBF-5C38-4F70-A9A5-818108123CC1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EC704-C25E-4401-97EB-30989FE47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073ED-11B4-441D-A97B-0BE231884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918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4A1B4-97DF-4C63-9FF7-5A898FA3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45A0C-9744-41D0-8038-55918440D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FCE62-85D6-406C-A32C-C96FBC8DC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05E9-05B2-4F13-B14D-3460A8ADF6ED}" type="datetime8">
              <a:rPr lang="he-IL" smtClean="0"/>
              <a:t>24 אוגוסט 25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154F7-2A9A-4CF7-8E8D-BA70DE741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453C-62BC-4A49-8802-8650AC657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FFFFC-B5A8-4387-821D-197FC501B04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4528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vgeny-kolonsky/summer_seminar/blob/main/chi2_test.ipynb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150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7888-1807-451C-ABB2-4C82000147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>
                <a:cs typeface="+mn-cs"/>
              </a:rPr>
              <a:t>טיפ# 1: ממוצע משוקלל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3227D-F6A3-4B05-8550-B81FB1A6B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דר' יבגני קולונסקי ודר' יוליה </a:t>
            </a:r>
            <a:r>
              <a:rPr lang="he-IL" dirty="0" err="1"/>
              <a:t>פריזאנט</a:t>
            </a:r>
            <a:endParaRPr lang="he-IL" dirty="0"/>
          </a:p>
          <a:p>
            <a:r>
              <a:rPr lang="he-IL" dirty="0"/>
              <a:t> 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634DF-775F-48AC-8E9F-1B5E25BF4631}"/>
              </a:ext>
            </a:extLst>
          </p:cNvPr>
          <p:cNvSpPr txBox="1"/>
          <p:nvPr/>
        </p:nvSpPr>
        <p:spPr>
          <a:xfrm>
            <a:off x="880533" y="6307667"/>
            <a:ext cx="992752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0" i="0">
                <a:effectLst/>
                <a:latin typeface="system-ui"/>
              </a:rPr>
              <a:t>John R. Taylor. </a:t>
            </a:r>
            <a:r>
              <a:rPr lang="en-US" sz="1400" b="0" i="1">
                <a:effectLst/>
                <a:latin typeface="system-ui"/>
              </a:rPr>
              <a:t>An Introduction to Error Analysis: The Study of Uncertainties in Physical Measurements.</a:t>
            </a:r>
            <a:r>
              <a:rPr lang="en-US" sz="1400" b="0" i="0">
                <a:effectLst/>
                <a:latin typeface="system-ui"/>
              </a:rPr>
              <a:t> University Science Books, 1996.</a:t>
            </a:r>
            <a:endParaRPr lang="he-IL" sz="1400"/>
          </a:p>
        </p:txBody>
      </p:sp>
    </p:spTree>
    <p:extLst>
      <p:ext uri="{BB962C8B-B14F-4D97-AF65-F5344CB8AC3E}">
        <p14:creationId xmlns:p14="http://schemas.microsoft.com/office/powerpoint/2010/main" val="409528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3991096" y="339917"/>
            <a:ext cx="4209807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ממוצע של </a:t>
            </a:r>
            <a:r>
              <a:rPr lang="en-US" sz="4000"/>
              <a:t>N</a:t>
            </a:r>
            <a:r>
              <a:rPr lang="he-IL" sz="4000"/>
              <a:t> מדידות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/>
              <p:nvPr/>
            </p:nvSpPr>
            <p:spPr>
              <a:xfrm>
                <a:off x="6855668" y="1354758"/>
                <a:ext cx="13865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….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668" y="1354758"/>
                <a:ext cx="1386533" cy="307777"/>
              </a:xfrm>
              <a:prstGeom prst="rect">
                <a:avLst/>
              </a:prstGeom>
              <a:blipFill>
                <a:blip r:embed="rId3"/>
                <a:stretch>
                  <a:fillRect l="-1762" r="-441" b="-176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F9B7DA1-97DD-4C2E-B271-ACC1FF464D3F}"/>
              </a:ext>
            </a:extLst>
          </p:cNvPr>
          <p:cNvSpPr txBox="1"/>
          <p:nvPr/>
        </p:nvSpPr>
        <p:spPr>
          <a:xfrm>
            <a:off x="5196550" y="1355169"/>
            <a:ext cx="1143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/>
              <a:t>מדידות</a:t>
            </a:r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/>
              <p:nvPr/>
            </p:nvSpPr>
            <p:spPr>
              <a:xfrm>
                <a:off x="4912127" y="2338411"/>
                <a:ext cx="1521442" cy="501356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 …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127" y="2338411"/>
                <a:ext cx="1521442" cy="5013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F4122E-FFA8-42BD-A9B9-E1BB75462C47}"/>
                  </a:ext>
                </a:extLst>
              </p:cNvPr>
              <p:cNvSpPr txBox="1"/>
              <p:nvPr/>
            </p:nvSpPr>
            <p:spPr>
              <a:xfrm>
                <a:off x="3353744" y="4780523"/>
                <a:ext cx="282821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+…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1F4122E-FFA8-42BD-A9B9-E1BB75462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744" y="4780523"/>
                <a:ext cx="2828210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033122-D05C-487A-9218-17517C794150}"/>
                  </a:ext>
                </a:extLst>
              </p:cNvPr>
              <p:cNvSpPr txBox="1"/>
              <p:nvPr/>
            </p:nvSpPr>
            <p:spPr>
              <a:xfrm>
                <a:off x="6858944" y="4762202"/>
                <a:ext cx="923906" cy="52431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4033122-D05C-487A-9218-17517C794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944" y="4762202"/>
                <a:ext cx="923906" cy="5243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A240639F-F71A-3846-3459-45DC507F7AE6}"/>
              </a:ext>
            </a:extLst>
          </p:cNvPr>
          <p:cNvSpPr txBox="1"/>
          <p:nvPr/>
        </p:nvSpPr>
        <p:spPr>
          <a:xfrm>
            <a:off x="2790306" y="3145579"/>
            <a:ext cx="5451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/>
              <a:t>אבל! רק אם:</a:t>
            </a:r>
          </a:p>
          <a:p>
            <a:pPr marL="342900" indent="-342900" algn="r" rtl="1">
              <a:buAutoNum type="arabicParenR"/>
            </a:pPr>
            <a:r>
              <a:rPr lang="he-IL"/>
              <a:t>מדידות בלתי תלויות</a:t>
            </a:r>
          </a:p>
          <a:p>
            <a:pPr marL="342900" indent="-342900" algn="r" rtl="1">
              <a:buAutoNum type="arabicParenR"/>
            </a:pPr>
            <a:r>
              <a:rPr lang="he-IL"/>
              <a:t>כל המדידה שייכת לאותה ההתפלגות (נורמלית)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93D297E-F8C6-7FC1-09C0-816F9F03C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0900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881071" y="195333"/>
            <a:ext cx="3132589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/>
              <a:t>ממוצע משוקלל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/>
              <p:nvPr/>
            </p:nvSpPr>
            <p:spPr>
              <a:xfrm>
                <a:off x="9757197" y="1361466"/>
                <a:ext cx="705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2D25469-4F3E-4124-9C1C-5CB6858F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7197" y="1361466"/>
                <a:ext cx="70532" cy="307777"/>
              </a:xfrm>
              <a:prstGeom prst="rect">
                <a:avLst/>
              </a:prstGeom>
              <a:blipFill>
                <a:blip r:embed="rId3"/>
                <a:stretch>
                  <a:fillRect l="-100000" r="-354545" b="-176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F9B7DA1-97DD-4C2E-B271-ACC1FF464D3F}"/>
              </a:ext>
            </a:extLst>
          </p:cNvPr>
          <p:cNvSpPr txBox="1"/>
          <p:nvPr/>
        </p:nvSpPr>
        <p:spPr>
          <a:xfrm>
            <a:off x="6536453" y="1349655"/>
            <a:ext cx="313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/>
              <a:t>מדידה שייכת להתפלגות </a:t>
            </a:r>
            <a:r>
              <a:rPr lang="en-US" sz="1800"/>
              <a:t>A</a:t>
            </a:r>
            <a:endParaRPr lang="he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15ABD-09E6-4A1F-8AD4-F2A55CD11A95}"/>
              </a:ext>
            </a:extLst>
          </p:cNvPr>
          <p:cNvSpPr txBox="1"/>
          <p:nvPr/>
        </p:nvSpPr>
        <p:spPr>
          <a:xfrm>
            <a:off x="4515063" y="2530013"/>
            <a:ext cx="5357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774C8E-0D57-458C-B62B-CC7E8EBAAE55}"/>
                  </a:ext>
                </a:extLst>
              </p:cNvPr>
              <p:cNvSpPr txBox="1"/>
              <p:nvPr/>
            </p:nvSpPr>
            <p:spPr>
              <a:xfrm>
                <a:off x="4376856" y="3522466"/>
                <a:ext cx="3886790" cy="651460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~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1774C8E-0D57-458C-B62B-CC7E8EBAA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6856" y="3522466"/>
                <a:ext cx="3886790" cy="651460"/>
              </a:xfrm>
              <a:prstGeom prst="rect">
                <a:avLst/>
              </a:prstGeom>
              <a:blipFill>
                <a:blip r:embed="rId4"/>
                <a:stretch>
                  <a:fillRect r="-3605" b="-102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6540E98-A970-4956-AE3C-1D39892054BE}"/>
              </a:ext>
            </a:extLst>
          </p:cNvPr>
          <p:cNvSpPr txBox="1"/>
          <p:nvPr/>
        </p:nvSpPr>
        <p:spPr>
          <a:xfrm>
            <a:off x="2461642" y="3002804"/>
            <a:ext cx="5357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/>
              <a:t>צריך למקסם את הפונקציה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991195-C595-49E4-8F0A-143E3C282098}"/>
                  </a:ext>
                </a:extLst>
              </p:cNvPr>
              <p:cNvSpPr txBox="1"/>
              <p:nvPr/>
            </p:nvSpPr>
            <p:spPr>
              <a:xfrm>
                <a:off x="5794013" y="2600573"/>
                <a:ext cx="130670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991195-C595-49E4-8F0A-143E3C282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013" y="2600573"/>
                <a:ext cx="1306704" cy="276999"/>
              </a:xfrm>
              <a:prstGeom prst="rect">
                <a:avLst/>
              </a:prstGeom>
              <a:blipFill>
                <a:blip r:embed="rId5"/>
                <a:stretch>
                  <a:fillRect l="-3256" b="-1777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/>
              <p:nvPr/>
            </p:nvSpPr>
            <p:spPr>
              <a:xfrm>
                <a:off x="5494796" y="4517495"/>
                <a:ext cx="2068771" cy="541751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689C9-4F26-4DAE-8D41-F076C6645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796" y="4517495"/>
                <a:ext cx="2068771" cy="541751"/>
              </a:xfrm>
              <a:prstGeom prst="rect">
                <a:avLst/>
              </a:prstGeom>
              <a:blipFill>
                <a:blip r:embed="rId6"/>
                <a:stretch>
                  <a:fillRect b="-11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3A6634-DB8D-4CA2-8A61-71784939CB5E}"/>
                  </a:ext>
                </a:extLst>
              </p:cNvPr>
              <p:cNvSpPr txBox="1"/>
              <p:nvPr/>
            </p:nvSpPr>
            <p:spPr>
              <a:xfrm>
                <a:off x="3900225" y="5473874"/>
                <a:ext cx="1961691" cy="1107804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23A6634-DB8D-4CA2-8A61-71784939C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225" y="5473874"/>
                <a:ext cx="1961691" cy="11078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325DCD-4D3B-4DEF-88A2-D30F84A5C357}"/>
                  </a:ext>
                </a:extLst>
              </p:cNvPr>
              <p:cNvSpPr txBox="1"/>
              <p:nvPr/>
            </p:nvSpPr>
            <p:spPr>
              <a:xfrm>
                <a:off x="6536453" y="5701795"/>
                <a:ext cx="2200954" cy="835293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den>
                      </m:f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325DCD-4D3B-4DEF-88A2-D30F84A5C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453" y="5701795"/>
                <a:ext cx="2200954" cy="8352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E621B0-1271-6B27-20FE-5046A5F0C3AB}"/>
                  </a:ext>
                </a:extLst>
              </p:cNvPr>
              <p:cNvSpPr txBox="1"/>
              <p:nvPr/>
            </p:nvSpPr>
            <p:spPr>
              <a:xfrm>
                <a:off x="5732655" y="1349655"/>
                <a:ext cx="11751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E621B0-1271-6B27-20FE-5046A5F0C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655" y="1349655"/>
                <a:ext cx="117519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B2E609A-5B23-74C0-C7B9-B1525CB7DBBC}"/>
              </a:ext>
            </a:extLst>
          </p:cNvPr>
          <p:cNvSpPr txBox="1"/>
          <p:nvPr/>
        </p:nvSpPr>
        <p:spPr>
          <a:xfrm>
            <a:off x="2958909" y="1384126"/>
            <a:ext cx="3132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/>
              <a:t>מדידה שייכת להתפלגות </a:t>
            </a:r>
            <a:r>
              <a:rPr lang="en-US" sz="1800"/>
              <a:t>B</a:t>
            </a:r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3CCF6-BA02-5E13-CB9B-864C975276A5}"/>
              </a:ext>
            </a:extLst>
          </p:cNvPr>
          <p:cNvSpPr txBox="1"/>
          <p:nvPr/>
        </p:nvSpPr>
        <p:spPr>
          <a:xfrm>
            <a:off x="3761008" y="2079198"/>
            <a:ext cx="5118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sz="1800" dirty="0"/>
              <a:t>לדוגמה: שתי מדידות קרובות בטווח השגיאה שלהן</a:t>
            </a:r>
            <a:endParaRPr lang="he-IL" dirty="0"/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DB2E327A-8F4B-29BE-0023-F1AF19B11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929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95EDE456-FD73-4FF5-8EBA-938DC34C0F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979" y="1509624"/>
              <a:ext cx="11033186" cy="2422925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5516593">
                      <a:extLst>
                        <a:ext uri="{9D8B030D-6E8A-4147-A177-3AD203B41FA5}">
                          <a16:colId xmlns:a16="http://schemas.microsoft.com/office/drawing/2014/main" val="96967217"/>
                        </a:ext>
                      </a:extLst>
                    </a:gridCol>
                    <a:gridCol w="5516593">
                      <a:extLst>
                        <a:ext uri="{9D8B030D-6E8A-4147-A177-3AD203B41FA5}">
                          <a16:colId xmlns:a16="http://schemas.microsoft.com/office/drawing/2014/main" val="2359577454"/>
                        </a:ext>
                      </a:extLst>
                    </a:gridCol>
                  </a:tblGrid>
                  <a:tr h="47487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מדידת פריקה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מדידה  גיאומטרית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5882206"/>
                      </a:ext>
                    </a:extLst>
                  </a:tr>
                  <a:tr h="777122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46687013"/>
                      </a:ext>
                    </a:extLst>
                  </a:tr>
                  <a:tr h="1170927">
                    <a:tc>
                      <a:txBody>
                        <a:bodyPr/>
                        <a:lstStyle/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b="0" i="1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445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pF</m:t>
                                </m:r>
                              </m:oMath>
                            </m:oMathPara>
                          </a14:m>
                          <a:endParaRPr lang="he-IL" b="0" i="0"/>
                        </a:p>
                        <a:p>
                          <a:pPr marL="0" marR="0" lvl="0" indent="0" algn="l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he-IL" i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he-IL" b="0" i="1">
                            <a:latin typeface="Cambria Math" panose="02040503050406030204" pitchFamily="18" charset="0"/>
                          </a:endParaRPr>
                        </a:p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he-IL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he-IL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he-IL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430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pF</m:t>
                                </m:r>
                              </m:oMath>
                            </m:oMathPara>
                          </a14:m>
                          <a:endParaRPr lang="he-IL" i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29291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95EDE456-FD73-4FF5-8EBA-938DC34C0F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46979" y="1509624"/>
              <a:ext cx="11033186" cy="2422925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5516593">
                      <a:extLst>
                        <a:ext uri="{9D8B030D-6E8A-4147-A177-3AD203B41FA5}">
                          <a16:colId xmlns:a16="http://schemas.microsoft.com/office/drawing/2014/main" val="96967217"/>
                        </a:ext>
                      </a:extLst>
                    </a:gridCol>
                    <a:gridCol w="5516593">
                      <a:extLst>
                        <a:ext uri="{9D8B030D-6E8A-4147-A177-3AD203B41FA5}">
                          <a16:colId xmlns:a16="http://schemas.microsoft.com/office/drawing/2014/main" val="2359577454"/>
                        </a:ext>
                      </a:extLst>
                    </a:gridCol>
                  </a:tblGrid>
                  <a:tr h="47487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מדידת פריקה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/>
                            <a:t>שיטת מדידה  גיאומטרית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75882206"/>
                      </a:ext>
                    </a:extLst>
                  </a:tr>
                  <a:tr h="7771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" t="-64844" r="-100331" b="-152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1" t="-64844" r="-442" b="-152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6687013"/>
                      </a:ext>
                    </a:extLst>
                  </a:tr>
                  <a:tr h="117092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0" t="-109326" r="-100331" b="-10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21" t="-109326" r="-442" b="-10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29291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954438" y="396491"/>
            <a:ext cx="2252540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/>
              <a:t>קבל לוחות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C0DD82-1CD7-4478-A768-62099BA8E4CF}"/>
              </a:ext>
            </a:extLst>
          </p:cNvPr>
          <p:cNvSpPr txBox="1"/>
          <p:nvPr/>
        </p:nvSpPr>
        <p:spPr>
          <a:xfrm>
            <a:off x="3475175" y="4186985"/>
            <a:ext cx="537679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4000"/>
              <a:t>ממוצע או ממוצע משוקלל?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0D7150-E97D-AC7B-AD1A-BF37E18D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9988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602642" y="499369"/>
            <a:ext cx="2986715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קוד קצר נחמד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2D5D4-3CA1-4C16-BF86-B0CBFFDE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940" b="4600"/>
          <a:stretch>
            <a:fillRect/>
          </a:stretch>
        </p:blipFill>
        <p:spPr>
          <a:xfrm>
            <a:off x="903535" y="1280302"/>
            <a:ext cx="10207287" cy="514734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2AF0EA-FC9B-18D8-86FF-E376B7F5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1089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9FF7888-1807-451C-ABB2-4C82000147F7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 rtl="1"/>
                <a:r>
                  <a:rPr lang="he-IL" dirty="0">
                    <a:cs typeface="+mn-cs"/>
                  </a:rPr>
                  <a:t>טיפ# 2: מבחן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n-cs"/>
                          </a:rPr>
                          <m:t>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lang="he-IL" dirty="0">
                  <a:cs typeface="+mn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9FF7888-1807-451C-ABB2-4C82000147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3"/>
                <a:stretch>
                  <a:fillRect b="-17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1D03227D-F6A3-4B05-8550-B81FB1A6B8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יבגני </a:t>
            </a:r>
            <a:r>
              <a:rPr lang="he-IL" err="1"/>
              <a:t>קולונסקי</a:t>
            </a:r>
            <a:endParaRPr lang="he-IL"/>
          </a:p>
          <a:p>
            <a:r>
              <a:rPr lang="he-IL"/>
              <a:t>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4AB77D-846A-AFAA-0BC1-A2CAB699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1934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4958016" y="195333"/>
            <a:ext cx="2644955" cy="1323439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>
                <a:cs typeface="Arial"/>
              </a:rPr>
              <a:t>חי בריבוע</a:t>
            </a:r>
          </a:p>
          <a:p>
            <a:pPr algn="ctr"/>
            <a:r>
              <a:rPr lang="en-US" sz="4000"/>
              <a:t>Chi - square</a:t>
            </a:r>
            <a:endParaRPr lang="he-IL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785ECA-332D-0985-0A48-4C36ADA99638}"/>
                  </a:ext>
                </a:extLst>
              </p:cNvPr>
              <p:cNvSpPr txBox="1"/>
              <p:nvPr/>
            </p:nvSpPr>
            <p:spPr>
              <a:xfrm>
                <a:off x="3316649" y="2101329"/>
                <a:ext cx="5783122" cy="1307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nor/>
                                        </m:rPr>
                                        <a:rPr lang="he-IL" sz="2800" b="0" i="0" smtClean="0">
                                          <a:latin typeface="Cambria Math" panose="02040503050406030204" pitchFamily="18" charset="0"/>
                                        </a:rPr>
                                        <m:t>מדידה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80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280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he-IL" sz="2800" b="0" i="0" smtClean="0">
                                          <a:latin typeface="Cambria Math" panose="02040503050406030204" pitchFamily="18" charset="0"/>
                                        </a:rPr>
                                        <m:t>ערך צפוי במודל</m:t>
                                      </m:r>
                                    </m:num>
                                    <m:den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תקן</m:t>
                                      </m:r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he-IL" sz="2800" b="0" i="1" smtClean="0">
                                          <a:latin typeface="Cambria Math" panose="02040503050406030204" pitchFamily="18" charset="0"/>
                                        </a:rPr>
                                        <m:t>סטיית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D785ECA-332D-0985-0A48-4C36ADA99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649" y="2101329"/>
                <a:ext cx="5783122" cy="13070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B6F2AB-D52F-4EAA-9CC3-C2073DD8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6356351"/>
            <a:ext cx="381000" cy="307778"/>
          </a:xfrm>
        </p:spPr>
        <p:txBody>
          <a:bodyPr/>
          <a:lstStyle/>
          <a:p>
            <a:fld id="{B38FFFFC-B5A8-4387-821D-197FC501B04E}" type="slidenum">
              <a:rPr lang="he-IL" smtClean="0"/>
              <a:t>7</a:t>
            </a:fld>
            <a:endParaRPr lang="he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B73CA-2439-404B-8314-3928623AEB18}"/>
              </a:ext>
            </a:extLst>
          </p:cNvPr>
          <p:cNvSpPr txBox="1"/>
          <p:nvPr/>
        </p:nvSpPr>
        <p:spPr>
          <a:xfrm>
            <a:off x="838200" y="6356351"/>
            <a:ext cx="9927526" cy="30777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1400" b="0" i="0" dirty="0">
                <a:effectLst/>
                <a:latin typeface="system-ui"/>
              </a:rPr>
              <a:t>John R. Taylor. </a:t>
            </a:r>
            <a:r>
              <a:rPr lang="en-US" sz="1400" b="0" i="1" dirty="0">
                <a:effectLst/>
                <a:latin typeface="system-ui"/>
              </a:rPr>
              <a:t>An Introduction to Error Analysis: The Study of Uncertainties in Physical Measurements.</a:t>
            </a:r>
            <a:r>
              <a:rPr lang="en-US" sz="1400" b="0" i="0" dirty="0">
                <a:effectLst/>
                <a:latin typeface="system-ui"/>
              </a:rPr>
              <a:t> University Science Books, 1996.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1650448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B0085B-564A-3E35-8D0C-D10726F15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8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18B8EE-C9F9-1DCE-32C4-A9A0ECE81B06}"/>
                  </a:ext>
                </a:extLst>
              </p:cNvPr>
              <p:cNvSpPr txBox="1"/>
              <p:nvPr/>
            </p:nvSpPr>
            <p:spPr>
              <a:xfrm>
                <a:off x="3640748" y="2181433"/>
                <a:ext cx="4910503" cy="11511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nor/>
                            </m:rPr>
                            <a:rPr lang="he-IL" sz="3200" dirty="0"/>
                            <m:t>מספר דרגות חופש</m:t>
                          </m:r>
                        </m:den>
                      </m:f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18B8EE-C9F9-1DCE-32C4-A9A0ECE81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748" y="2181433"/>
                <a:ext cx="4910503" cy="11511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53437A-F34C-B6B1-ED74-015126318A4C}"/>
              </a:ext>
            </a:extLst>
          </p:cNvPr>
          <p:cNvSpPr txBox="1"/>
          <p:nvPr/>
        </p:nvSpPr>
        <p:spPr>
          <a:xfrm>
            <a:off x="4175689" y="136525"/>
            <a:ext cx="4506618" cy="1323439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>
                <a:cs typeface="Arial"/>
              </a:rPr>
              <a:t>חי בריבוע מצומצם</a:t>
            </a:r>
          </a:p>
          <a:p>
            <a:pPr algn="ctr"/>
            <a:r>
              <a:rPr lang="en-US" sz="4000"/>
              <a:t>Reduced chi - square</a:t>
            </a:r>
            <a:endParaRPr lang="he-IL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C6572-E974-9BB8-2857-F387201BBF4E}"/>
                  </a:ext>
                </a:extLst>
              </p:cNvPr>
              <p:cNvSpPr txBox="1"/>
              <p:nvPr/>
            </p:nvSpPr>
            <p:spPr>
              <a:xfrm>
                <a:off x="4877977" y="4173112"/>
                <a:ext cx="1357936" cy="456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F0C6572-E974-9BB8-2857-F387201BB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77" y="4173112"/>
                <a:ext cx="1357936" cy="4569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Graphic 9" descr="Badge Cross outline">
            <a:extLst>
              <a:ext uri="{FF2B5EF4-FFF2-40B4-BE49-F238E27FC236}">
                <a16:creationId xmlns:a16="http://schemas.microsoft.com/office/drawing/2014/main" id="{D376CCB7-BADA-134D-F049-62295EE22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05799" y="3988968"/>
            <a:ext cx="825208" cy="825208"/>
          </a:xfrm>
          <a:prstGeom prst="rect">
            <a:avLst/>
          </a:prstGeom>
        </p:spPr>
      </p:pic>
      <p:pic>
        <p:nvPicPr>
          <p:cNvPr id="3" name="Graphic 4" descr="Badge Tick1 outline">
            <a:extLst>
              <a:ext uri="{FF2B5EF4-FFF2-40B4-BE49-F238E27FC236}">
                <a16:creationId xmlns:a16="http://schemas.microsoft.com/office/drawing/2014/main" id="{24FBB92C-F7CB-856A-DEDF-0971BCCFE5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05799" y="5057958"/>
            <a:ext cx="825208" cy="8252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148EBE-DC7A-8A36-8A4D-19A2ECCA7668}"/>
                  </a:ext>
                </a:extLst>
              </p:cNvPr>
              <p:cNvSpPr txBox="1"/>
              <p:nvPr/>
            </p:nvSpPr>
            <p:spPr>
              <a:xfrm>
                <a:off x="4877977" y="5128203"/>
                <a:ext cx="1292470" cy="456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148EBE-DC7A-8A36-8A4D-19A2ECCA7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977" y="5128203"/>
                <a:ext cx="1292470" cy="4569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69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07AA1-F03C-2022-240A-B30556D4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F64633-EBBE-64C1-38D9-1DEC60B2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79671" y="6343733"/>
            <a:ext cx="397933" cy="365125"/>
          </a:xfrm>
        </p:spPr>
        <p:txBody>
          <a:bodyPr/>
          <a:lstStyle/>
          <a:p>
            <a:fld id="{B38FFFFC-B5A8-4387-821D-197FC501B04E}" type="slidenum">
              <a:rPr lang="he-IL" smtClean="0"/>
              <a:t>9</a:t>
            </a:fld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2593B-E468-219B-F4E4-32EDA50AD1C1}"/>
              </a:ext>
            </a:extLst>
          </p:cNvPr>
          <p:cNvSpPr txBox="1"/>
          <p:nvPr/>
        </p:nvSpPr>
        <p:spPr>
          <a:xfrm>
            <a:off x="3048000" y="25975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  <a:endParaRPr lang="he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2AFA00-7568-DDA4-3BE6-BBB94CBA5A20}"/>
              </a:ext>
            </a:extLst>
          </p:cNvPr>
          <p:cNvSpPr txBox="1"/>
          <p:nvPr/>
        </p:nvSpPr>
        <p:spPr>
          <a:xfrm>
            <a:off x="4051358" y="195333"/>
            <a:ext cx="4458272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 dirty="0">
                <a:ea typeface="Calibri"/>
                <a:cs typeface="Arial"/>
              </a:rPr>
              <a:t>הגדרת "דרגות חופש"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170A6-F634-FAAC-62AE-A30F863DCD0E}"/>
                  </a:ext>
                </a:extLst>
              </p:cNvPr>
              <p:cNvSpPr txBox="1"/>
              <p:nvPr/>
            </p:nvSpPr>
            <p:spPr>
              <a:xfrm>
                <a:off x="2397157" y="1609562"/>
                <a:ext cx="927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4170A6-F634-FAAC-62AE-A30F863DC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157" y="1609562"/>
                <a:ext cx="927882" cy="276999"/>
              </a:xfrm>
              <a:prstGeom prst="rect">
                <a:avLst/>
              </a:prstGeom>
              <a:blipFill>
                <a:blip r:embed="rId3"/>
                <a:stretch>
                  <a:fillRect l="-5263" r="-1316" b="-2888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371A9-7949-B134-3EE0-7D561B05DD5A}"/>
                  </a:ext>
                </a:extLst>
              </p:cNvPr>
              <p:cNvSpPr txBox="1"/>
              <p:nvPr/>
            </p:nvSpPr>
            <p:spPr>
              <a:xfrm>
                <a:off x="5454799" y="1610873"/>
                <a:ext cx="12824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4371A9-7949-B134-3EE0-7D561B05D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799" y="1610873"/>
                <a:ext cx="1282402" cy="276999"/>
              </a:xfrm>
              <a:prstGeom prst="rect">
                <a:avLst/>
              </a:prstGeom>
              <a:blipFill>
                <a:blip r:embed="rId4"/>
                <a:stretch>
                  <a:fillRect l="-3810" r="-3333" b="-260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526FA9-255E-BBEB-4233-BA821F42F18A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8383858" y="1609562"/>
                <a:ext cx="1904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526FA9-255E-BBEB-4233-BA821F42F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858" y="1609562"/>
                <a:ext cx="1904237" cy="276999"/>
              </a:xfrm>
              <a:prstGeom prst="rect">
                <a:avLst/>
              </a:prstGeom>
              <a:blipFill>
                <a:blip r:embed="rId5"/>
                <a:stretch>
                  <a:fillRect l="-2236" r="-319" b="-2888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A9F0F7D-5697-9422-EC6B-730D3962888C}"/>
              </a:ext>
            </a:extLst>
          </p:cNvPr>
          <p:cNvSpPr txBox="1"/>
          <p:nvPr/>
        </p:nvSpPr>
        <p:spPr>
          <a:xfrm>
            <a:off x="1958089" y="2359188"/>
            <a:ext cx="1949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מדידות: </a:t>
            </a:r>
            <a:r>
              <a:rPr lang="en-US" dirty="0"/>
              <a:t>10</a:t>
            </a:r>
          </a:p>
          <a:p>
            <a:pPr algn="r" rtl="1"/>
            <a:r>
              <a:rPr lang="he-IL" dirty="0">
                <a:cs typeface="Arial"/>
              </a:rPr>
              <a:t>פרמטרי התאמה </a:t>
            </a:r>
            <a:r>
              <a:rPr lang="he-IL" dirty="0"/>
              <a:t>: </a:t>
            </a:r>
            <a:r>
              <a:rPr lang="en-US" dirty="0"/>
              <a:t>1</a:t>
            </a:r>
            <a:endParaRPr lang="he-IL" dirty="0"/>
          </a:p>
          <a:p>
            <a:pPr algn="r" rtl="1"/>
            <a:r>
              <a:rPr lang="he-IL" dirty="0"/>
              <a:t>דרגות חופש: </a:t>
            </a:r>
            <a:r>
              <a:rPr lang="en-US" dirty="0"/>
              <a:t>9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11B01-BFDD-9601-0B8F-EAC7361F7760}"/>
              </a:ext>
            </a:extLst>
          </p:cNvPr>
          <p:cNvSpPr txBox="1"/>
          <p:nvPr/>
        </p:nvSpPr>
        <p:spPr>
          <a:xfrm>
            <a:off x="5006087" y="2321359"/>
            <a:ext cx="19495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מדידות: </a:t>
            </a:r>
            <a:r>
              <a:rPr lang="en-US" dirty="0"/>
              <a:t>10</a:t>
            </a:r>
          </a:p>
          <a:p>
            <a:pPr algn="r" rtl="1"/>
            <a:r>
              <a:rPr lang="he-IL" dirty="0">
                <a:cs typeface="Arial"/>
              </a:rPr>
              <a:t>פרמטרי התאמה </a:t>
            </a:r>
            <a:r>
              <a:rPr lang="he-IL" dirty="0"/>
              <a:t>: </a:t>
            </a:r>
            <a:r>
              <a:rPr lang="en-US" dirty="0"/>
              <a:t>2</a:t>
            </a:r>
            <a:endParaRPr lang="he-IL" dirty="0"/>
          </a:p>
          <a:p>
            <a:pPr algn="r" rtl="1"/>
            <a:r>
              <a:rPr lang="he-IL" dirty="0"/>
              <a:t>דרגות חופש: </a:t>
            </a:r>
            <a:r>
              <a:rPr lang="en-US" dirty="0"/>
              <a:t>8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C0901-E011-EC60-0C21-783ADF52751A}"/>
              </a:ext>
            </a:extLst>
          </p:cNvPr>
          <p:cNvSpPr txBox="1"/>
          <p:nvPr/>
        </p:nvSpPr>
        <p:spPr>
          <a:xfrm>
            <a:off x="8388855" y="2319985"/>
            <a:ext cx="1888658" cy="92333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r" rtl="1"/>
            <a:r>
              <a:rPr lang="he-IL" dirty="0">
                <a:cs typeface="Arial"/>
              </a:rPr>
              <a:t>מדידות: </a:t>
            </a:r>
            <a:r>
              <a:rPr lang="en-US" dirty="0"/>
              <a:t>10</a:t>
            </a:r>
          </a:p>
          <a:p>
            <a:pPr algn="r" rtl="1"/>
            <a:r>
              <a:rPr lang="he-IL" dirty="0">
                <a:cs typeface="Arial"/>
              </a:rPr>
              <a:t>פרמטרי התאמה: </a:t>
            </a:r>
            <a:r>
              <a:rPr lang="en-US" dirty="0"/>
              <a:t>3</a:t>
            </a:r>
            <a:endParaRPr lang="he-IL" dirty="0"/>
          </a:p>
          <a:p>
            <a:pPr algn="r" rtl="1"/>
            <a:r>
              <a:rPr lang="he-IL" dirty="0">
                <a:cs typeface="Arial"/>
              </a:rPr>
              <a:t>דרגות חופש: </a:t>
            </a:r>
            <a:r>
              <a:rPr lang="en-US" dirty="0"/>
              <a:t>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A18A61-0B3A-9D9D-2D19-ED7021E38ED4}"/>
              </a:ext>
            </a:extLst>
          </p:cNvPr>
          <p:cNvSpPr txBox="1"/>
          <p:nvPr/>
        </p:nvSpPr>
        <p:spPr>
          <a:xfrm>
            <a:off x="3116380" y="3954320"/>
            <a:ext cx="632822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מספר דרגות חופש = מספר מדידות – מספר פרמטרי התאמה</a:t>
            </a:r>
          </a:p>
        </p:txBody>
      </p:sp>
    </p:spTree>
    <p:extLst>
      <p:ext uri="{BB962C8B-B14F-4D97-AF65-F5344CB8AC3E}">
        <p14:creationId xmlns:p14="http://schemas.microsoft.com/office/powerpoint/2010/main" val="2455375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medical device&#10;&#10;AI-generated content may be incorrect.">
            <a:extLst>
              <a:ext uri="{FF2B5EF4-FFF2-40B4-BE49-F238E27FC236}">
                <a16:creationId xmlns:a16="http://schemas.microsoft.com/office/drawing/2014/main" id="{B9B4ECDF-5893-F85E-E357-AD057A588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1" t="28368" r="13488" b="29964"/>
          <a:stretch>
            <a:fillRect/>
          </a:stretch>
        </p:blipFill>
        <p:spPr>
          <a:xfrm rot="60000">
            <a:off x="3347448" y="2050187"/>
            <a:ext cx="7848006" cy="4049504"/>
          </a:xfrm>
          <a:prstGeom prst="rect">
            <a:avLst/>
          </a:prstGeom>
          <a:solidFill>
            <a:srgbClr val="FFFF00"/>
          </a:solidFill>
          <a:effectLst>
            <a:softEdge rad="1270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3794901" y="220174"/>
            <a:ext cx="463460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אלקטרון בשדה חשמלי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476961-C534-4AE8-C2AA-7442164246D3}"/>
              </a:ext>
            </a:extLst>
          </p:cNvPr>
          <p:cNvCxnSpPr>
            <a:cxnSpLocks/>
          </p:cNvCxnSpPr>
          <p:nvPr/>
        </p:nvCxnSpPr>
        <p:spPr>
          <a:xfrm rot="60000" flipH="1">
            <a:off x="3704416" y="4185087"/>
            <a:ext cx="3938495" cy="96563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3D35A25-8BB9-0078-20F7-E32EB77E4583}"/>
              </a:ext>
            </a:extLst>
          </p:cNvPr>
          <p:cNvCxnSpPr>
            <a:cxnSpLocks/>
          </p:cNvCxnSpPr>
          <p:nvPr/>
        </p:nvCxnSpPr>
        <p:spPr>
          <a:xfrm rot="60000" flipH="1" flipV="1">
            <a:off x="7570362" y="2598599"/>
            <a:ext cx="110649" cy="3058885"/>
          </a:xfrm>
          <a:prstGeom prst="straightConnector1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A6177A-C658-186E-466B-895B67AB4366}"/>
              </a:ext>
            </a:extLst>
          </p:cNvPr>
          <p:cNvSpPr txBox="1"/>
          <p:nvPr/>
        </p:nvSpPr>
        <p:spPr>
          <a:xfrm>
            <a:off x="7625686" y="2201302"/>
            <a:ext cx="367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ru-RU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4A1C8B-4C2C-9B4E-8742-E4D5209068AE}"/>
              </a:ext>
            </a:extLst>
          </p:cNvPr>
          <p:cNvSpPr txBox="1"/>
          <p:nvPr/>
        </p:nvSpPr>
        <p:spPr>
          <a:xfrm>
            <a:off x="3764257" y="4172827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ru-RU" sz="36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AA44D3-15C1-4E4E-ED37-78848F721657}"/>
              </a:ext>
            </a:extLst>
          </p:cNvPr>
          <p:cNvSpPr txBox="1"/>
          <p:nvPr/>
        </p:nvSpPr>
        <p:spPr>
          <a:xfrm>
            <a:off x="8198230" y="2765386"/>
            <a:ext cx="1194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latin typeface="Bodoni MT" panose="02070603080606020203" pitchFamily="18" charset="0"/>
              </a:rPr>
              <a:t>מתח האצה</a:t>
            </a:r>
          </a:p>
          <a:p>
            <a:r>
              <a:rPr lang="en-US" i="1" dirty="0">
                <a:latin typeface="Bodoni MT" panose="02070603080606020203" pitchFamily="18" charset="0"/>
              </a:rPr>
              <a:t>U</a:t>
            </a:r>
            <a:r>
              <a:rPr lang="en-US" i="1" baseline="-25000" dirty="0">
                <a:latin typeface="Bodoni MT" panose="02070603080606020203" pitchFamily="18" charset="0"/>
              </a:rPr>
              <a:t>A</a:t>
            </a:r>
            <a:endParaRPr lang="ru-RU" i="1" baseline="-25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A71CEF-41E1-20D4-E954-43FF3A962561}"/>
              </a:ext>
            </a:extLst>
          </p:cNvPr>
          <p:cNvSpPr txBox="1"/>
          <p:nvPr/>
        </p:nvSpPr>
        <p:spPr>
          <a:xfrm>
            <a:off x="5760502" y="2088274"/>
            <a:ext cx="1225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/>
              <a:t>מתח הסחה</a:t>
            </a:r>
            <a:endParaRPr lang="en-US" dirty="0"/>
          </a:p>
          <a:p>
            <a:endParaRPr lang="en-US" dirty="0"/>
          </a:p>
          <a:p>
            <a:r>
              <a:rPr lang="en-US" i="1" dirty="0">
                <a:latin typeface="Bodoni MT" panose="02070603080606020203" pitchFamily="18" charset="0"/>
              </a:rPr>
              <a:t>U</a:t>
            </a:r>
            <a:r>
              <a:rPr lang="en-US" i="1" baseline="-25000" dirty="0">
                <a:latin typeface="Bodoni MT" panose="02070603080606020203" pitchFamily="18" charset="0"/>
              </a:rPr>
              <a:t>P</a:t>
            </a:r>
            <a:endParaRPr lang="ru-RU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BE4E24-38F5-A24A-FA16-29DD933D53A4}"/>
                  </a:ext>
                </a:extLst>
              </p:cNvPr>
              <p:cNvSpPr txBox="1"/>
              <p:nvPr/>
            </p:nvSpPr>
            <p:spPr>
              <a:xfrm>
                <a:off x="146591" y="1091188"/>
                <a:ext cx="2683638" cy="1968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he-IL" dirty="0"/>
                  <a:t>כאשר שדה חשמלי אחיד</a:t>
                </a:r>
              </a:p>
              <a:p>
                <a:pPr algn="r" rtl="1"/>
                <a:r>
                  <a:rPr lang="he-IL" dirty="0"/>
                  <a:t>מסלול של אלקטרון מתואר על ידי:</a:t>
                </a:r>
              </a:p>
              <a:p>
                <a:pPr algn="l"/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 algn="r" rtl="1"/>
                <a:endParaRPr lang="ru-RU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BE4E24-38F5-A24A-FA16-29DD933D5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1" y="1091188"/>
                <a:ext cx="2683638" cy="1968103"/>
              </a:xfrm>
              <a:prstGeom prst="rect">
                <a:avLst/>
              </a:prstGeom>
              <a:blipFill>
                <a:blip r:embed="rId4"/>
                <a:stretch>
                  <a:fillRect l="-2045" t="-1548" r="-204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EE9D20-3087-127C-C5E1-1ABC488C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2143" y="6288783"/>
            <a:ext cx="2743200" cy="365125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10</a:t>
            </a:fld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5248C-24A5-4121-062C-0FA288483BA7}"/>
              </a:ext>
            </a:extLst>
          </p:cNvPr>
          <p:cNvSpPr txBox="1"/>
          <p:nvPr/>
        </p:nvSpPr>
        <p:spPr>
          <a:xfrm>
            <a:off x="4072483" y="4799163"/>
            <a:ext cx="3202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44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+ + + + + + + + +</a:t>
            </a:r>
            <a:endParaRPr lang="ru-RU" sz="4400" b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B9BAF-20F2-76D5-FEDB-68953994915F}"/>
              </a:ext>
            </a:extLst>
          </p:cNvPr>
          <p:cNvSpPr txBox="1"/>
          <p:nvPr/>
        </p:nvSpPr>
        <p:spPr>
          <a:xfrm>
            <a:off x="4072483" y="2937026"/>
            <a:ext cx="3202360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4400" b="1" baseline="-25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- - - - - - - - - - - -  </a:t>
            </a:r>
            <a:endParaRPr lang="ru-RU" sz="4400" b="1" baseline="-25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8EC5-4B2F-C450-AC25-483DCA075B5D}"/>
                  </a:ext>
                </a:extLst>
              </p:cNvPr>
              <p:cNvSpPr txBox="1"/>
              <p:nvPr/>
            </p:nvSpPr>
            <p:spPr>
              <a:xfrm>
                <a:off x="1245520" y="4126660"/>
                <a:ext cx="2250492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𝑑</m:t>
                    </m:r>
                  </m:oMath>
                </a14:m>
                <a:r>
                  <a:rPr lang="en-US" dirty="0"/>
                  <a:t> – </a:t>
                </a:r>
                <a:r>
                  <a:rPr lang="he-IL" dirty="0"/>
                  <a:t>מרחק בין לוחות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358EC5-4B2F-C450-AC25-483DCA075B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520" y="4126660"/>
                <a:ext cx="2250492" cy="369332"/>
              </a:xfrm>
              <a:prstGeom prst="rect">
                <a:avLst/>
              </a:prstGeom>
              <a:blipFill>
                <a:blip r:embed="rId5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49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BDBD5-4AE4-55EA-E3DD-47BDA5A7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F233139-F0F8-E49A-9B90-36957BBC68BA}"/>
              </a:ext>
            </a:extLst>
          </p:cNvPr>
          <p:cNvSpPr txBox="1"/>
          <p:nvPr/>
        </p:nvSpPr>
        <p:spPr>
          <a:xfrm>
            <a:off x="4031172" y="364120"/>
            <a:ext cx="389241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 dirty="0"/>
              <a:t>מסלול של אלקטרון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45BBD0-2F70-497E-DC9D-88B519FE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2119" y="6304646"/>
            <a:ext cx="493592" cy="281349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11</a:t>
            </a:fld>
            <a:endParaRPr lang="he-IL" dirty="0"/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B1C4A71F-0A9F-1257-66E6-7A9F55213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939" y="1072006"/>
            <a:ext cx="8953661" cy="551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3510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1A1D36D-6E8B-4485-BC2F-CA966F4A336A}"/>
              </a:ext>
            </a:extLst>
          </p:cNvPr>
          <p:cNvSpPr txBox="1"/>
          <p:nvPr/>
        </p:nvSpPr>
        <p:spPr>
          <a:xfrm>
            <a:off x="5202967" y="287460"/>
            <a:ext cx="1786066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 dirty="0"/>
              <a:t>קוד קצר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F511A-7051-A4E0-CCB9-F8695D85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0510" y="6356350"/>
            <a:ext cx="427299" cy="324793"/>
          </a:xfrm>
        </p:spPr>
        <p:txBody>
          <a:bodyPr/>
          <a:lstStyle/>
          <a:p>
            <a:fld id="{B38FFFFC-B5A8-4387-821D-197FC501B04E}" type="slidenum">
              <a:rPr lang="he-IL" smtClean="0"/>
              <a:t>12</a:t>
            </a:fld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3E6F1-C98C-0E7A-87C5-3273C26D6A8F}"/>
              </a:ext>
            </a:extLst>
          </p:cNvPr>
          <p:cNvSpPr txBox="1"/>
          <p:nvPr/>
        </p:nvSpPr>
        <p:spPr>
          <a:xfrm>
            <a:off x="254598" y="6505160"/>
            <a:ext cx="620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hlinkClick r:id="rId3"/>
              </a:rPr>
              <a:t>https://github.com/evgeny-kolonsky/summer_seminar/blob/main/chi2_test.ipynb</a:t>
            </a:r>
            <a:endParaRPr lang="ru-RU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CEFEA-1128-4406-983A-D2135970B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219" y="990512"/>
            <a:ext cx="6203815" cy="55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CF7AC-439F-0DDC-5DD8-DDA288D2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5253" y="6524183"/>
            <a:ext cx="496747" cy="333817"/>
          </a:xfrm>
        </p:spPr>
        <p:txBody>
          <a:bodyPr/>
          <a:lstStyle/>
          <a:p>
            <a:fld id="{B38FFFFC-B5A8-4387-821D-197FC501B04E}" type="slidenum">
              <a:rPr lang="he-IL" smtClean="0"/>
              <a:t>13</a:t>
            </a:fld>
            <a:endParaRPr lang="he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309B5-9240-43DE-6EB3-F7A521DDED18}"/>
              </a:ext>
            </a:extLst>
          </p:cNvPr>
          <p:cNvSpPr txBox="1"/>
          <p:nvPr/>
        </p:nvSpPr>
        <p:spPr>
          <a:xfrm>
            <a:off x="4248535" y="195333"/>
            <a:ext cx="4063934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/>
            <a:r>
              <a:rPr lang="he-IL" sz="4000" dirty="0">
                <a:ea typeface="Calibri"/>
                <a:cs typeface="Arial"/>
              </a:rPr>
              <a:t>התפלגות חי בריבוע</a:t>
            </a:r>
            <a:endParaRPr lang="he-IL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20C64-0A34-2AAC-CFB9-0421C3B42987}"/>
              </a:ext>
            </a:extLst>
          </p:cNvPr>
          <p:cNvSpPr/>
          <p:nvPr/>
        </p:nvSpPr>
        <p:spPr>
          <a:xfrm>
            <a:off x="613833" y="1502833"/>
            <a:ext cx="857250" cy="22754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86B07BC-8FF4-C383-64C7-73CD97647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07" y="983974"/>
            <a:ext cx="10638185" cy="5678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126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285D-DE1F-FA83-3A42-8C538211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4416C-B5BB-5C6E-A9B1-A6D5D68A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230" y="6501034"/>
            <a:ext cx="577770" cy="356966"/>
          </a:xfrm>
        </p:spPr>
        <p:txBody>
          <a:bodyPr/>
          <a:lstStyle/>
          <a:p>
            <a:fld id="{B38FFFFC-B5A8-4387-821D-197FC501B04E}" type="slidenum">
              <a:rPr lang="he-IL" smtClean="0"/>
              <a:t>14</a:t>
            </a:fld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C03AA-7987-5D4C-2E80-DC4C04A683D6}"/>
              </a:ext>
            </a:extLst>
          </p:cNvPr>
          <p:cNvSpPr txBox="1"/>
          <p:nvPr/>
        </p:nvSpPr>
        <p:spPr>
          <a:xfrm>
            <a:off x="3142609" y="333536"/>
            <a:ext cx="5917004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r" rtl="1"/>
            <a:r>
              <a:rPr lang="he-IL" sz="4000" dirty="0">
                <a:cs typeface="Arial"/>
              </a:rPr>
              <a:t>מידת התאמה בצורה של גרף</a:t>
            </a:r>
            <a:endParaRPr lang="he-IL" sz="4000" dirty="0">
              <a:ea typeface="Calibri"/>
              <a:cs typeface="Arial"/>
            </a:endParaRPr>
          </a:p>
        </p:txBody>
      </p:sp>
      <p:pic>
        <p:nvPicPr>
          <p:cNvPr id="4" name="Picture 3" descr="A graph of a graph with a green line&#10;&#10;AI-generated content may be incorrect.">
            <a:extLst>
              <a:ext uri="{FF2B5EF4-FFF2-40B4-BE49-F238E27FC236}">
                <a16:creationId xmlns:a16="http://schemas.microsoft.com/office/drawing/2014/main" id="{9B255D7C-BAB0-4970-12CE-F09CB8C2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100" y="1044850"/>
            <a:ext cx="7559951" cy="5733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EB73E7-D9DF-D078-E8B1-032C4DC15899}"/>
                  </a:ext>
                </a:extLst>
              </p:cNvPr>
              <p:cNvSpPr txBox="1"/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9960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EB73E7-D9DF-D078-E8B1-032C4DC15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blipFill>
                <a:blip r:embed="rId4"/>
                <a:stretch>
                  <a:fillRect l="-4206" t="-2222" r="-4206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06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E285D-DE1F-FA83-3A42-8C5382114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4416C-B5BB-5C6E-A9B1-A6D5D68A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4230" y="6501034"/>
            <a:ext cx="577770" cy="356966"/>
          </a:xfrm>
        </p:spPr>
        <p:txBody>
          <a:bodyPr/>
          <a:lstStyle/>
          <a:p>
            <a:fld id="{B38FFFFC-B5A8-4387-821D-197FC501B04E}" type="slidenum">
              <a:rPr lang="he-IL" smtClean="0"/>
              <a:t>15</a:t>
            </a:fld>
            <a:endParaRPr lang="he-I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5C03AA-7987-5D4C-2E80-DC4C04A683D6}"/>
              </a:ext>
            </a:extLst>
          </p:cNvPr>
          <p:cNvSpPr txBox="1"/>
          <p:nvPr/>
        </p:nvSpPr>
        <p:spPr>
          <a:xfrm>
            <a:off x="3381154" y="362844"/>
            <a:ext cx="5878532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 dirty="0"/>
              <a:t>לקחנו יותר מדידות מהתמונה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4CE54B3-E5FA-0515-A194-FD52B96F9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374" y="1070730"/>
            <a:ext cx="7606370" cy="576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325051-5EDB-93E0-7FC6-7471D7C842AE}"/>
                  </a:ext>
                </a:extLst>
              </p:cNvPr>
              <p:cNvSpPr txBox="1"/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9954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325051-5EDB-93E0-7FC6-7471D7C84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blipFill>
                <a:blip r:embed="rId4"/>
                <a:stretch>
                  <a:fillRect l="-4206" t="-2222" r="-4673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84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5FF3E-F656-0826-A021-97EB4BED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B02385E-F436-FA9E-7310-DEB94065CAF3}"/>
              </a:ext>
            </a:extLst>
          </p:cNvPr>
          <p:cNvSpPr txBox="1"/>
          <p:nvPr/>
        </p:nvSpPr>
        <p:spPr>
          <a:xfrm>
            <a:off x="2932313" y="362844"/>
            <a:ext cx="632737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he-IL" sz="4000"/>
              <a:t>נניח שמדדנו עם דיוק יותר גבוה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AA7DB4-EAB5-26DE-FEBB-BE1A20D2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9489" y="6425799"/>
            <a:ext cx="554620" cy="287518"/>
          </a:xfrm>
        </p:spPr>
        <p:txBody>
          <a:bodyPr/>
          <a:lstStyle/>
          <a:p>
            <a:pPr algn="r" rtl="1"/>
            <a:fld id="{B38FFFFC-B5A8-4387-821D-197FC501B04E}" type="slidenum">
              <a:rPr lang="he-IL" smtClean="0"/>
              <a:pPr algn="r" rtl="1"/>
              <a:t>16</a:t>
            </a:fld>
            <a:endParaRPr lang="he-IL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3665DF8B-FA8A-65F1-F958-591F382B6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230" y="1105383"/>
            <a:ext cx="7490628" cy="567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316234-FC9D-45CC-E07B-E9D3B59B20F2}"/>
                  </a:ext>
                </a:extLst>
              </p:cNvPr>
              <p:cNvSpPr txBox="1"/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9960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316234-FC9D-45CC-E07B-E9D3B59B2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52" y="5754756"/>
                <a:ext cx="1305101" cy="276999"/>
              </a:xfrm>
              <a:prstGeom prst="rect">
                <a:avLst/>
              </a:prstGeom>
              <a:blipFill>
                <a:blip r:embed="rId4"/>
                <a:stretch>
                  <a:fillRect l="-4206" t="-2222" r="-4206" b="-88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8627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ACCF86-677B-90EC-2C8C-6E57CB8B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2738" y="6356350"/>
            <a:ext cx="371061" cy="312807"/>
          </a:xfrm>
        </p:spPr>
        <p:txBody>
          <a:bodyPr/>
          <a:lstStyle/>
          <a:p>
            <a:fld id="{B38FFFFC-B5A8-4387-821D-197FC501B04E}" type="slidenum">
              <a:rPr lang="he-IL" smtClean="0"/>
              <a:t>17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9C597B-9AFB-41C4-6456-8A0B571E29DF}"/>
                  </a:ext>
                </a:extLst>
              </p:cNvPr>
              <p:cNvSpPr txBox="1"/>
              <p:nvPr/>
            </p:nvSpPr>
            <p:spPr>
              <a:xfrm>
                <a:off x="4940715" y="476289"/>
                <a:ext cx="2167901" cy="707886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4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00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he-IL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he-IL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he-IL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9C597B-9AFB-41C4-6456-8A0B571E2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715" y="476289"/>
                <a:ext cx="2167901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erson in a red shirt punching another person&#10;&#10;AI-generated content may be incorrect.">
            <a:extLst>
              <a:ext uri="{FF2B5EF4-FFF2-40B4-BE49-F238E27FC236}">
                <a16:creationId xmlns:a16="http://schemas.microsoft.com/office/drawing/2014/main" id="{54C0D290-4282-F2A1-4E8D-94CE1F05A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603" y="1373521"/>
            <a:ext cx="3338793" cy="500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97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7888-1807-451C-ABB2-4C8200014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98891"/>
            <a:ext cx="9144000" cy="1941850"/>
          </a:xfrm>
        </p:spPr>
        <p:txBody>
          <a:bodyPr>
            <a:normAutofit/>
          </a:bodyPr>
          <a:lstStyle/>
          <a:p>
            <a:r>
              <a:rPr lang="he-IL" dirty="0">
                <a:cs typeface="+mn-cs"/>
              </a:rPr>
              <a:t>טיפ# 3:</a:t>
            </a:r>
            <a:br>
              <a:rPr lang="en-US" dirty="0">
                <a:cs typeface="+mn-cs"/>
              </a:rPr>
            </a:br>
            <a:r>
              <a:rPr lang="he-IL" dirty="0">
                <a:cs typeface="+mn-cs"/>
              </a:rPr>
              <a:t> רגרסיה לינארית: גילוי נאות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334B0-9B20-4483-80F0-BF1F6A13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1370" y="6356351"/>
            <a:ext cx="392430" cy="353060"/>
          </a:xfrm>
        </p:spPr>
        <p:txBody>
          <a:bodyPr/>
          <a:lstStyle/>
          <a:p>
            <a:fld id="{A263F1A8-BC7B-4008-A955-96F8F4A3B8CB}" type="slidenum">
              <a:rPr lang="he-IL" smtClean="0"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368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C081-11A5-C286-448C-EB6B1254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dirty="0">
                <a:latin typeface="Arial (Body)"/>
                <a:cs typeface="+mn-cs"/>
              </a:rPr>
              <a:t>הנחות של רגרסיה</a:t>
            </a:r>
            <a:r>
              <a:rPr lang="en-US" sz="4000" dirty="0">
                <a:latin typeface="Arial (Body)"/>
                <a:cs typeface="+mn-cs"/>
              </a:rPr>
              <a:t>  </a:t>
            </a:r>
            <a:endParaRPr lang="he-IL" sz="4000" dirty="0">
              <a:latin typeface="Arial (Body)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80571F-D6F8-0255-5B7E-EA00534D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79531" y="6366078"/>
            <a:ext cx="370380" cy="329997"/>
          </a:xfrm>
        </p:spPr>
        <p:txBody>
          <a:bodyPr/>
          <a:lstStyle/>
          <a:p>
            <a:fld id="{A263F1A8-BC7B-4008-A955-96F8F4A3B8CB}" type="slidenum">
              <a:rPr lang="he-IL" smtClean="0"/>
              <a:t>19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B87905-4613-9AA8-6BD7-428C1E58D00D}"/>
                  </a:ext>
                </a:extLst>
              </p:cNvPr>
              <p:cNvSpPr txBox="1"/>
              <p:nvPr/>
            </p:nvSpPr>
            <p:spPr>
              <a:xfrm>
                <a:off x="9343747" y="3161144"/>
                <a:ext cx="2286000" cy="13606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800" b="0" dirty="0"/>
              </a:p>
              <a:p>
                <a:pPr/>
                <a:br>
                  <a:rPr lang="en-US" sz="28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const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B87905-4613-9AA8-6BD7-428C1E58D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747" y="3161144"/>
                <a:ext cx="2286000" cy="13606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8" name="Picture 14">
            <a:extLst>
              <a:ext uri="{FF2B5EF4-FFF2-40B4-BE49-F238E27FC236}">
                <a16:creationId xmlns:a16="http://schemas.microsoft.com/office/drawing/2014/main" id="{7811A833-83F4-BDE3-A082-6694ADC7B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979" y="1722145"/>
            <a:ext cx="6244991" cy="479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D5682-1589-695A-F743-9AF6191B8588}"/>
                  </a:ext>
                </a:extLst>
              </p:cNvPr>
              <p:cNvSpPr txBox="1"/>
              <p:nvPr/>
            </p:nvSpPr>
            <p:spPr>
              <a:xfrm>
                <a:off x="9193530" y="1779488"/>
                <a:ext cx="2286000" cy="430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br>
                  <a:rPr lang="en-US" sz="2800" b="0" dirty="0"/>
                </a:br>
                <a:endParaRPr lang="en-US" sz="28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D5682-1589-695A-F743-9AF6191B8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530" y="1779488"/>
                <a:ext cx="2286000" cy="4309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067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F07D83-62DD-2C9B-7DF1-5F162813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5176" y="6356350"/>
            <a:ext cx="428624" cy="339725"/>
          </a:xfrm>
        </p:spPr>
        <p:txBody>
          <a:bodyPr/>
          <a:lstStyle/>
          <a:p>
            <a:fld id="{A263F1A8-BC7B-4008-A955-96F8F4A3B8CB}" type="slidenum">
              <a:rPr lang="he-IL" smtClean="0"/>
              <a:t>20</a:t>
            </a:fld>
            <a:endParaRPr lang="he-IL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2BD6627-0A39-9CC7-AE00-C39C363F1BB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9460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sz="4000" dirty="0">
                <a:latin typeface="Arial (Body)"/>
                <a:cs typeface="+mn-cs"/>
              </a:rPr>
              <a:t>יישום רגרסיה </a:t>
            </a:r>
            <a:r>
              <a:rPr lang="he-IL" sz="4000" dirty="0" err="1">
                <a:latin typeface="Arial (Body)"/>
                <a:cs typeface="+mn-cs"/>
              </a:rPr>
              <a:t>בפייתון</a:t>
            </a:r>
            <a:endParaRPr lang="he-IL" sz="4000" dirty="0">
              <a:latin typeface="Arial (Body)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3039AC-4291-7890-EFED-6737A7F0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757" y="1375641"/>
            <a:ext cx="6916115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227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D89C8-43E2-B128-EFF6-5F506272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dirty="0">
                <a:latin typeface="Arial (Body)"/>
                <a:cs typeface="+mn-cs"/>
              </a:rPr>
              <a:t>איך לעשות רגרסיה לפונקציה ללא איבר חופשי?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86A99-F816-5B21-6D2E-EEA1CABE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0500" y="6315711"/>
            <a:ext cx="434340" cy="313690"/>
          </a:xfrm>
        </p:spPr>
        <p:txBody>
          <a:bodyPr/>
          <a:lstStyle/>
          <a:p>
            <a:fld id="{A263F1A8-BC7B-4008-A955-96F8F4A3B8CB}" type="slidenum">
              <a:rPr lang="he-IL" smtClean="0"/>
              <a:t>21</a:t>
            </a:fld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763C0-F55F-BEE8-E8DB-E84C1AA2DE0F}"/>
                  </a:ext>
                </a:extLst>
              </p:cNvPr>
              <p:cNvSpPr txBox="1"/>
              <p:nvPr/>
            </p:nvSpPr>
            <p:spPr>
              <a:xfrm>
                <a:off x="9489440" y="1945662"/>
                <a:ext cx="2286000" cy="4309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br>
                  <a:rPr lang="en-US" sz="2800" b="0" dirty="0"/>
                </a:br>
                <a:endParaRPr lang="en-US" sz="2800" b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13763C0-F55F-BEE8-E8DB-E84C1AA2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440" y="1945662"/>
                <a:ext cx="2286000" cy="4309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B536E3-140E-C232-57A4-76F8F7E8B124}"/>
                  </a:ext>
                </a:extLst>
              </p:cNvPr>
              <p:cNvSpPr txBox="1"/>
              <p:nvPr/>
            </p:nvSpPr>
            <p:spPr>
              <a:xfrm>
                <a:off x="9088863" y="3094152"/>
                <a:ext cx="2965977" cy="25040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pPr/>
                <a:br>
                  <a:rPr lang="en-US" sz="28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endParaRPr lang="en-US" sz="2800" b="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B536E3-140E-C232-57A4-76F8F7E8B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863" y="3094152"/>
                <a:ext cx="2965977" cy="25040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82" name="Picture 10">
            <a:extLst>
              <a:ext uri="{FF2B5EF4-FFF2-40B4-BE49-F238E27FC236}">
                <a16:creationId xmlns:a16="http://schemas.microsoft.com/office/drawing/2014/main" id="{6B637B05-4B56-AC79-096C-4465620C3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35" y="1945662"/>
            <a:ext cx="552450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42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6C98-FF90-B83B-DAEF-92E62525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he-IL" sz="4000" dirty="0">
                <a:latin typeface="Arial (Body)"/>
                <a:cs typeface="+mn-cs"/>
              </a:rPr>
              <a:t>יישום ממוצע משוקלל בחישוב של שיפוע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2AF4A-124F-9603-2665-1AA8CE9B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660" y="6356350"/>
            <a:ext cx="358140" cy="421640"/>
          </a:xfrm>
        </p:spPr>
        <p:txBody>
          <a:bodyPr/>
          <a:lstStyle/>
          <a:p>
            <a:fld id="{A263F1A8-BC7B-4008-A955-96F8F4A3B8CB}" type="slidenum">
              <a:rPr lang="he-IL" smtClean="0"/>
              <a:t>22</a:t>
            </a:fld>
            <a:endParaRPr lang="he-I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835036-01B7-90A9-5F2E-ED66F943E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745" y="1822937"/>
            <a:ext cx="6306430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9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1679FC-5B26-D3E9-ECAA-98AC9C4E7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06" y="1740787"/>
            <a:ext cx="5806632" cy="3988773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8D213357-C8D8-74DE-03DD-25F472D55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10177" y="491747"/>
            <a:ext cx="825208" cy="82520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6B6D03-5FE6-DDDC-73D6-1AA1ABFA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155" y="6382074"/>
            <a:ext cx="434665" cy="369332"/>
          </a:xfrm>
        </p:spPr>
        <p:txBody>
          <a:bodyPr/>
          <a:lstStyle/>
          <a:p>
            <a:fld id="{A263F1A8-BC7B-4008-A955-96F8F4A3B8CB}" type="slidenum">
              <a:rPr lang="he-IL" smtClean="0"/>
              <a:t>23</a:t>
            </a:fld>
            <a:endParaRPr lang="he-I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833A0-600D-C297-1E2D-539DE7923727}"/>
              </a:ext>
            </a:extLst>
          </p:cNvPr>
          <p:cNvSpPr txBox="1">
            <a:spLocks/>
          </p:cNvSpPr>
          <p:nvPr/>
        </p:nvSpPr>
        <p:spPr>
          <a:xfrm>
            <a:off x="1183888" y="64390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sz="4000" dirty="0">
                <a:latin typeface="Arial (Body)"/>
                <a:cs typeface="+mn-cs"/>
              </a:rPr>
              <a:t>בליעת קרינת </a:t>
            </a:r>
            <a:r>
              <a:rPr lang="el-GR" sz="4000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γ</a:t>
            </a:r>
            <a:r>
              <a:rPr lang="he-IL" sz="4000" dirty="0"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 </a:t>
            </a:r>
            <a:r>
              <a:rPr lang="he-IL" sz="4000" dirty="0">
                <a:latin typeface="Arial (Body)"/>
                <a:cs typeface="+mn-cs"/>
              </a:rPr>
              <a:t>בעופרת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74E4D-89AE-D734-F5C1-1431BCCFBB17}"/>
              </a:ext>
            </a:extLst>
          </p:cNvPr>
          <p:cNvSpPr txBox="1"/>
          <p:nvPr/>
        </p:nvSpPr>
        <p:spPr>
          <a:xfrm>
            <a:off x="7909311" y="6184322"/>
            <a:ext cx="2446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בכל מדידה שגיאה 3%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C7C2A-B966-D983-DB47-1B210A3A46F2}"/>
                  </a:ext>
                </a:extLst>
              </p:cNvPr>
              <p:cNvSpPr txBox="1"/>
              <p:nvPr/>
            </p:nvSpPr>
            <p:spPr>
              <a:xfrm>
                <a:off x="8416563" y="1982350"/>
                <a:ext cx="1743298" cy="928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he-IL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  <a:p>
                <a:endParaRPr lang="en-US" sz="20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33C7C2A-B966-D983-DB47-1B210A3A4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6563" y="1982350"/>
                <a:ext cx="1743298" cy="928844"/>
              </a:xfrm>
              <a:prstGeom prst="rect">
                <a:avLst/>
              </a:prstGeom>
              <a:blipFill>
                <a:blip r:embed="rId6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E46443B-C72C-44B7-9EAC-3A102381C78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35"/>
          <a:stretch/>
        </p:blipFill>
        <p:spPr>
          <a:xfrm>
            <a:off x="129362" y="1731488"/>
            <a:ext cx="6050127" cy="363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2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8E42-6B43-ACDF-9F06-EDEEC4F4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14E052-4C13-4B35-B31E-5C378498F4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98" y="1562308"/>
            <a:ext cx="6280390" cy="418729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9B702A3-27C5-EBBC-7690-09A0B4592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80" y="1562308"/>
            <a:ext cx="6313522" cy="4726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597829-2269-2EFA-0311-DEEECC8C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513" y="6351045"/>
            <a:ext cx="361950" cy="349250"/>
          </a:xfrm>
        </p:spPr>
        <p:txBody>
          <a:bodyPr/>
          <a:lstStyle/>
          <a:p>
            <a:fld id="{A263F1A8-BC7B-4008-A955-96F8F4A3B8CB}" type="slidenum">
              <a:rPr lang="he-IL" smtClean="0"/>
              <a:t>24</a:t>
            </a:fld>
            <a:endParaRPr lang="he-IL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8ACAF9-777E-ECB6-AE64-3961A3CB94DC}"/>
              </a:ext>
            </a:extLst>
          </p:cNvPr>
          <p:cNvSpPr txBox="1">
            <a:spLocks/>
          </p:cNvSpPr>
          <p:nvPr/>
        </p:nvSpPr>
        <p:spPr>
          <a:xfrm>
            <a:off x="1183888" y="643907"/>
            <a:ext cx="10515600" cy="6819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he-IL" sz="4000" dirty="0">
                <a:latin typeface="Arial (Body)"/>
                <a:cs typeface="+mn-cs"/>
              </a:rPr>
              <a:t>פריקה של קבל</a:t>
            </a:r>
            <a:r>
              <a:rPr lang="en-US" sz="4000" dirty="0">
                <a:latin typeface="Arial (Body)"/>
                <a:cs typeface="+mn-cs"/>
              </a:rPr>
              <a:t> </a:t>
            </a:r>
            <a:r>
              <a:rPr lang="he-IL" sz="4000" dirty="0">
                <a:latin typeface="Arial (Body)"/>
                <a:cs typeface="+mn-cs"/>
              </a:rPr>
              <a:t>לוחות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CFA624-4DFC-23E6-0E5E-D5199776B1BA}"/>
                  </a:ext>
                </a:extLst>
              </p:cNvPr>
              <p:cNvSpPr txBox="1"/>
              <p:nvPr/>
            </p:nvSpPr>
            <p:spPr>
              <a:xfrm>
                <a:off x="6662400" y="4122821"/>
                <a:ext cx="2353263" cy="841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𝑅𝐶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br>
                  <a:rPr lang="en-US" sz="2000" b="0" i="1" dirty="0">
                    <a:latin typeface="Cambria Math" panose="02040503050406030204" pitchFamily="18" charset="0"/>
                  </a:rPr>
                </a:br>
                <a:endParaRPr lang="en-US" sz="20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CFA624-4DFC-23E6-0E5E-D5199776B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2400" y="4122821"/>
                <a:ext cx="2353263" cy="8414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043C3487-F22D-9E0C-AC98-1880D714C6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74280" y="500673"/>
            <a:ext cx="825208" cy="8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9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9188CB-18F7-4093-A261-92C2DD540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92" y="1499698"/>
            <a:ext cx="6181370" cy="412091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680ECA5-DC65-4791-80C8-712CC3D08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306" y="1752398"/>
            <a:ext cx="550545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F4DEA2-F523-6A52-EECE-82D7DE56FCE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1553" y="405558"/>
                <a:ext cx="11004395" cy="1597063"/>
              </a:xfrm>
            </p:spPr>
            <p:txBody>
              <a:bodyPr>
                <a:normAutofit fontScale="90000"/>
              </a:bodyPr>
              <a:lstStyle/>
              <a:p>
                <a:pPr algn="ctr" rtl="1"/>
                <a:r>
                  <a:rPr lang="he-IL" dirty="0">
                    <a:cs typeface="+mn-cs"/>
                  </a:rPr>
                  <a:t>קיטוב של גלי מיקרו</a:t>
                </a:r>
                <a:br>
                  <a:rPr lang="en-US" dirty="0">
                    <a:cs typeface="+mn-cs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Arial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cs typeface="Arial"/>
                                </a:rPr>
                                <m:t>0</m:t>
                              </m:r>
                            </m:sub>
                          </m:sSub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Arial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br>
                  <a:rPr lang="he-IL" dirty="0">
                    <a:cs typeface="Arial"/>
                  </a:rPr>
                </a:br>
                <a:r>
                  <a:rPr lang="en-US" dirty="0">
                    <a:cs typeface="+mn-cs"/>
                  </a:rPr>
                  <a:t> </a:t>
                </a:r>
                <a:endParaRPr lang="he-IL" dirty="0">
                  <a:cs typeface="+mn-cs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5F4DEA2-F523-6A52-EECE-82D7DE56FC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1553" y="405558"/>
                <a:ext cx="11004395" cy="1597063"/>
              </a:xfrm>
              <a:blipFill>
                <a:blip r:embed="rId5"/>
                <a:stretch>
                  <a:fillRect t="-1603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A1D86-1D53-1309-DC3B-74EA841F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6675" y="6333330"/>
            <a:ext cx="419273" cy="334169"/>
          </a:xfrm>
        </p:spPr>
        <p:txBody>
          <a:bodyPr/>
          <a:lstStyle/>
          <a:p>
            <a:fld id="{A263F1A8-BC7B-4008-A955-96F8F4A3B8CB}" type="slidenum">
              <a:rPr lang="he-IL" smtClean="0"/>
              <a:t>25</a:t>
            </a:fld>
            <a:endParaRPr lang="he-IL" dirty="0"/>
          </a:p>
        </p:txBody>
      </p:sp>
      <p:pic>
        <p:nvPicPr>
          <p:cNvPr id="3" name="Graphic 2" descr="Badge Cross outline">
            <a:extLst>
              <a:ext uri="{FF2B5EF4-FFF2-40B4-BE49-F238E27FC236}">
                <a16:creationId xmlns:a16="http://schemas.microsoft.com/office/drawing/2014/main" id="{0BD28031-7F88-0B7A-8FBA-6915EAF4CF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8337" y="312607"/>
            <a:ext cx="825208" cy="82520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8FE7E8-9CCF-25B8-9AB3-9A6F02622947}"/>
              </a:ext>
            </a:extLst>
          </p:cNvPr>
          <p:cNvCxnSpPr>
            <a:cxnSpLocks/>
          </p:cNvCxnSpPr>
          <p:nvPr/>
        </p:nvCxnSpPr>
        <p:spPr>
          <a:xfrm flipV="1">
            <a:off x="6972018" y="1833623"/>
            <a:ext cx="4681527" cy="3453064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7300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46B56C-BDD8-46E8-9F1C-8638E1860F2F}"/>
                  </a:ext>
                </a:extLst>
              </p:cNvPr>
              <p:cNvSpPr txBox="1"/>
              <p:nvPr/>
            </p:nvSpPr>
            <p:spPr>
              <a:xfrm>
                <a:off x="2649542" y="195333"/>
                <a:ext cx="7261924" cy="193899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1" anchor="t">
                <a:spAutoFit/>
              </a:bodyPr>
              <a:lstStyle/>
              <a:p>
                <a:pPr algn="ctr"/>
                <a:r>
                  <a:rPr lang="he-IL" sz="4000" dirty="0">
                    <a:cs typeface="Arial"/>
                  </a:rPr>
                  <a:t>התאמה לא-לינארית עם 4 פרמטרים</a:t>
                </a:r>
              </a:p>
              <a:p>
                <a:pPr algn="ctr"/>
                <a:endParaRPr lang="he-IL" sz="4000" dirty="0"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400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func>
                        <m:func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  <a:cs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𝜔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𝜑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he-IL" sz="4000" dirty="0">
                  <a:cs typeface="Arial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46B56C-BDD8-46E8-9F1C-8638E186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542" y="195333"/>
                <a:ext cx="7261924" cy="1938992"/>
              </a:xfrm>
              <a:prstGeom prst="rect">
                <a:avLst/>
              </a:prstGeom>
              <a:blipFill>
                <a:blip r:embed="rId3"/>
                <a:stretch>
                  <a:fillRect l="-2519" t="-5660" r="-2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D3605-369B-4180-9047-0DAFC536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0960" y="6382358"/>
            <a:ext cx="513080" cy="307777"/>
          </a:xfrm>
        </p:spPr>
        <p:txBody>
          <a:bodyPr/>
          <a:lstStyle/>
          <a:p>
            <a:fld id="{A263F1A8-BC7B-4008-A955-96F8F4A3B8CB}" type="slidenum">
              <a:rPr lang="he-IL" smtClean="0"/>
              <a:t>26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17028B-C72B-00F1-7915-A7F2FC8C7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2573593"/>
            <a:ext cx="5296359" cy="27434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0265EE-867A-D481-86D5-1C3CEA67B793}"/>
              </a:ext>
            </a:extLst>
          </p:cNvPr>
          <p:cNvSpPr txBox="1"/>
          <p:nvPr/>
        </p:nvSpPr>
        <p:spPr>
          <a:xfrm>
            <a:off x="6571872" y="5977054"/>
            <a:ext cx="4047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לפעמים לכדאי להגדיר </a:t>
            </a:r>
            <a:r>
              <a:rPr lang="he-IL" dirty="0">
                <a:highlight>
                  <a:srgbClr val="FFFF00"/>
                </a:highlight>
              </a:rPr>
              <a:t>פרמטרים התחלתיים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2CE983-6273-420D-AE6A-83FC3C225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731" y="2573593"/>
            <a:ext cx="5867308" cy="306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9858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B504B-8390-6035-2B70-45E47497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794EB8-18F9-A7D1-0BD2-55883C3B747D}"/>
                  </a:ext>
                </a:extLst>
              </p:cNvPr>
              <p:cNvSpPr txBox="1"/>
              <p:nvPr/>
            </p:nvSpPr>
            <p:spPr>
              <a:xfrm>
                <a:off x="2649542" y="195333"/>
                <a:ext cx="7261924" cy="196207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1" anchor="t">
                <a:spAutoFit/>
              </a:bodyPr>
              <a:lstStyle/>
              <a:p>
                <a:pPr algn="ctr"/>
                <a:r>
                  <a:rPr lang="he-IL" sz="4000" dirty="0">
                    <a:cs typeface="Arial"/>
                  </a:rPr>
                  <a:t>התאמה לא-לינארית עם 5 פרמטרים</a:t>
                </a:r>
              </a:p>
              <a:p>
                <a:pPr algn="ctr"/>
                <a:endParaRPr lang="he-IL" sz="4000" dirty="0">
                  <a:cs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4000" i="1" smtClean="0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func>
                        <m:func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−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/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2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𝜏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4000" b="0" i="0" smtClean="0">
                              <a:latin typeface="Cambria Math" panose="02040503050406030204" pitchFamily="18" charset="0"/>
                              <a:cs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𝜔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  <a:cs typeface="Arial"/>
                                </a:rPr>
                                <m:t>𝜑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  <a:cs typeface="Arial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he-IL" sz="4000" dirty="0">
                  <a:cs typeface="Arial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794EB8-18F9-A7D1-0BD2-55883C3B7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542" y="195333"/>
                <a:ext cx="7261924" cy="1962076"/>
              </a:xfrm>
              <a:prstGeom prst="rect">
                <a:avLst/>
              </a:prstGeom>
              <a:blipFill>
                <a:blip r:embed="rId3"/>
                <a:stretch>
                  <a:fillRect l="-2519" t="-5590" r="-2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D338B-D2DC-511B-3422-BE118389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0960" y="6382358"/>
            <a:ext cx="513080" cy="307777"/>
          </a:xfrm>
        </p:spPr>
        <p:txBody>
          <a:bodyPr/>
          <a:lstStyle/>
          <a:p>
            <a:fld id="{A263F1A8-BC7B-4008-A955-96F8F4A3B8CB}" type="slidenum">
              <a:rPr lang="he-IL" smtClean="0"/>
              <a:t>27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D3112E-D77F-9CA4-0693-3EAC1A852607}"/>
              </a:ext>
            </a:extLst>
          </p:cNvPr>
          <p:cNvSpPr txBox="1"/>
          <p:nvPr/>
        </p:nvSpPr>
        <p:spPr>
          <a:xfrm>
            <a:off x="4999326" y="5977054"/>
            <a:ext cx="5620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dirty="0"/>
              <a:t> צריך להגדיר </a:t>
            </a:r>
            <a:r>
              <a:rPr lang="he-IL" dirty="0">
                <a:highlight>
                  <a:srgbClr val="FFFF00"/>
                </a:highlight>
              </a:rPr>
              <a:t>פרמטרים התחלתיים והגבלות למרחב פרמטרים</a:t>
            </a:r>
            <a:endParaRPr lang="ru-R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27103D-4254-416D-AED5-02BF2C4A6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97" y="2573591"/>
            <a:ext cx="5763903" cy="2758187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362FA140-7B56-4852-BA5F-7C13C369C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122" y="2563428"/>
            <a:ext cx="5692977" cy="2970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46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3880A4-A79B-7141-06BA-2EA2019A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5710" y="6333491"/>
            <a:ext cx="449580" cy="307340"/>
          </a:xfrm>
        </p:spPr>
        <p:txBody>
          <a:bodyPr/>
          <a:lstStyle/>
          <a:p>
            <a:fld id="{A263F1A8-BC7B-4008-A955-96F8F4A3B8CB}" type="slidenum">
              <a:rPr lang="he-IL" smtClean="0"/>
              <a:t>28</a:t>
            </a:fld>
            <a:endParaRPr lang="he-IL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97795A5-AB8A-FDC5-9CA3-72A8ABF0E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63" y="2143332"/>
            <a:ext cx="10415424" cy="383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B4EF4-5930-5599-6851-40B0303CEDE6}"/>
                  </a:ext>
                </a:extLst>
              </p:cNvPr>
              <p:cNvSpPr txBox="1"/>
              <p:nvPr/>
            </p:nvSpPr>
            <p:spPr>
              <a:xfrm>
                <a:off x="2363342" y="192571"/>
                <a:ext cx="7350090" cy="120032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1" anchor="t">
                <a:spAutoFit/>
              </a:bodyPr>
              <a:lstStyle/>
              <a:p>
                <a:pPr algn="ctr" rtl="1"/>
                <a:r>
                  <a:rPr lang="he-IL" sz="4000" dirty="0">
                    <a:cs typeface="Arial"/>
                  </a:rPr>
                  <a:t>התאמה לא-לינארית</a:t>
                </a:r>
                <a:r>
                  <a:rPr lang="en-US" sz="4000" dirty="0">
                    <a:cs typeface="Arial"/>
                  </a:rPr>
                  <a:t> </a:t>
                </a:r>
                <a:r>
                  <a:rPr lang="he-IL" sz="4000" dirty="0">
                    <a:cs typeface="Arial"/>
                  </a:rPr>
                  <a:t>עם 6 פרמטרים</a:t>
                </a:r>
                <a:endParaRPr lang="en-US" sz="4000" dirty="0">
                  <a:cs typeface="Arial"/>
                </a:endParaRPr>
              </a:p>
              <a:p>
                <a:pPr algn="ct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  <a:cs typeface="Arial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  <a:cs typeface="Arial"/>
                        </a:rPr>
                        <m:t>𝐴</m:t>
                      </m:r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  <a:cs typeface="Arial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  <m:t>𝑡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  <m:t>𝜑</m:t>
                              </m:r>
                            </m:e>
                          </m:d>
                          <m:r>
                            <a:rPr lang="en-US" sz="3200" i="1">
                              <a:latin typeface="Cambria Math" panose="02040503050406030204" pitchFamily="18" charset="0"/>
                              <a:cs typeface="Arial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cs typeface="Arial"/>
                            </a:rPr>
                            <m:t>𝐵</m:t>
                          </m:r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  <a:cs typeface="Aria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cs typeface="Arial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  <a:cs typeface="Arial"/>
                                        </a:rPr>
                                        <m:t>𝑑𝑟</m:t>
                                      </m:r>
                                    </m:sub>
                                  </m:s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𝑡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+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cs typeface="Arial"/>
                                    </a:rPr>
                                    <m:t>𝜓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he-IL" sz="3200" dirty="0">
                  <a:cs typeface="Arial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CB4EF4-5930-5599-6851-40B0303CE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342" y="192571"/>
                <a:ext cx="7350090" cy="1200329"/>
              </a:xfrm>
              <a:prstGeom prst="rect">
                <a:avLst/>
              </a:prstGeom>
              <a:blipFill>
                <a:blip r:embed="rId5"/>
                <a:stretch>
                  <a:fillRect l="-1577" t="-10204" r="-16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4833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0B969A-5E1F-2A5A-DF0E-5155C821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7080" y="6356350"/>
            <a:ext cx="426720" cy="398780"/>
          </a:xfrm>
        </p:spPr>
        <p:txBody>
          <a:bodyPr/>
          <a:lstStyle/>
          <a:p>
            <a:fld id="{A263F1A8-BC7B-4008-A955-96F8F4A3B8CB}" type="slidenum">
              <a:rPr lang="he-IL" smtClean="0"/>
              <a:t>29</a:t>
            </a:fld>
            <a:endParaRPr lang="he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58DB5-3CB6-754A-3138-6C9BC4FCFD08}"/>
              </a:ext>
            </a:extLst>
          </p:cNvPr>
          <p:cNvSpPr txBox="1"/>
          <p:nvPr/>
        </p:nvSpPr>
        <p:spPr>
          <a:xfrm>
            <a:off x="1238778" y="305382"/>
            <a:ext cx="8868646" cy="707886"/>
          </a:xfrm>
          <a:prstGeom prst="rect">
            <a:avLst/>
          </a:prstGeom>
          <a:noFill/>
        </p:spPr>
        <p:txBody>
          <a:bodyPr wrap="none" lIns="91440" tIns="45720" rIns="91440" bIns="45720" rtlCol="1" anchor="t">
            <a:spAutoFit/>
          </a:bodyPr>
          <a:lstStyle/>
          <a:p>
            <a:pPr algn="ctr" rtl="1"/>
            <a:r>
              <a:rPr lang="he-IL" sz="4000" dirty="0">
                <a:cs typeface="Arial"/>
              </a:rPr>
              <a:t>ספריה שיודעת לעשות </a:t>
            </a:r>
            <a:r>
              <a:rPr lang="en-US" sz="4000" dirty="0">
                <a:cs typeface="Arial"/>
              </a:rPr>
              <a:t>Global optimization </a:t>
            </a:r>
            <a:endParaRPr lang="he-IL" sz="4000" dirty="0"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F7985C-9010-4538-8A7A-D9F4770B1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236" y="925488"/>
            <a:ext cx="8107317" cy="582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46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5E2F6A-05F0-81EF-05A9-65BFAA51F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3F1A8-BC7B-4008-A955-96F8F4A3B8CB}" type="slidenum">
              <a:rPr lang="he-IL" smtClean="0"/>
              <a:t>30</a:t>
            </a:fld>
            <a:endParaRPr lang="he-IL"/>
          </a:p>
        </p:txBody>
      </p:sp>
      <p:pic>
        <p:nvPicPr>
          <p:cNvPr id="4" name="Picture 3" descr="A cat looking at the camera&#10;&#10;AI-generated content may be incorrect.">
            <a:extLst>
              <a:ext uri="{FF2B5EF4-FFF2-40B4-BE49-F238E27FC236}">
                <a16:creationId xmlns:a16="http://schemas.microsoft.com/office/drawing/2014/main" id="{2E7FE44C-0E03-A0E4-B005-16C786D40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4"/>
          <a:stretch>
            <a:fillRect/>
          </a:stretch>
        </p:blipFill>
        <p:spPr>
          <a:xfrm>
            <a:off x="4483891" y="569160"/>
            <a:ext cx="3577144" cy="5735053"/>
          </a:xfrm>
          <a:prstGeom prst="rect">
            <a:avLst/>
          </a:prstGeom>
        </p:spPr>
      </p:pic>
      <p:sp>
        <p:nvSpPr>
          <p:cNvPr id="5" name="Heart 4">
            <a:extLst>
              <a:ext uri="{FF2B5EF4-FFF2-40B4-BE49-F238E27FC236}">
                <a16:creationId xmlns:a16="http://schemas.microsoft.com/office/drawing/2014/main" id="{A19BD3E9-DC94-476E-315C-FEEBE3797417}"/>
              </a:ext>
            </a:extLst>
          </p:cNvPr>
          <p:cNvSpPr/>
          <p:nvPr/>
        </p:nvSpPr>
        <p:spPr>
          <a:xfrm>
            <a:off x="9272337" y="2855495"/>
            <a:ext cx="1331495" cy="1074821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Heart 5">
            <a:extLst>
              <a:ext uri="{FF2B5EF4-FFF2-40B4-BE49-F238E27FC236}">
                <a16:creationId xmlns:a16="http://schemas.microsoft.com/office/drawing/2014/main" id="{1F77CEB9-7BA7-8A5C-B42D-C9A7B6455E21}"/>
              </a:ext>
            </a:extLst>
          </p:cNvPr>
          <p:cNvSpPr/>
          <p:nvPr/>
        </p:nvSpPr>
        <p:spPr>
          <a:xfrm>
            <a:off x="1588168" y="2855494"/>
            <a:ext cx="1331495" cy="1074821"/>
          </a:xfrm>
          <a:prstGeom prst="hear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518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2973</Words>
  <Application>Microsoft Office PowerPoint</Application>
  <PresentationFormat>Widescreen</PresentationFormat>
  <Paragraphs>209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Arial</vt:lpstr>
      <vt:lpstr>Arial (Body)</vt:lpstr>
      <vt:lpstr>Bodoni MT</vt:lpstr>
      <vt:lpstr>Calibri</vt:lpstr>
      <vt:lpstr>Calibri Light</vt:lpstr>
      <vt:lpstr>Cambria Math</vt:lpstr>
      <vt:lpstr>system-ui</vt:lpstr>
      <vt:lpstr>Times New Roman</vt:lpstr>
      <vt:lpstr>Office Theme</vt:lpstr>
      <vt:lpstr>טיפ# 1: ממוצע משוקלל</vt:lpstr>
      <vt:lpstr>PowerPoint Presentation</vt:lpstr>
      <vt:lpstr>PowerPoint Presentation</vt:lpstr>
      <vt:lpstr>PowerPoint Presentation</vt:lpstr>
      <vt:lpstr>PowerPoint Presentation</vt:lpstr>
      <vt:lpstr>טיפ# 2: מבחןχ^2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טיפ# 3:  רגרסיה לינארית: גילוי נאות</vt:lpstr>
      <vt:lpstr>הנחות של רגרסיה  </vt:lpstr>
      <vt:lpstr>PowerPoint Presentation</vt:lpstr>
      <vt:lpstr>איך לעשות רגרסיה לפונקציה ללא איבר חופשי?</vt:lpstr>
      <vt:lpstr>יישום ממוצע משוקלל בחישוב של שיפוע</vt:lpstr>
      <vt:lpstr>PowerPoint Presentation</vt:lpstr>
      <vt:lpstr>PowerPoint Presentation</vt:lpstr>
      <vt:lpstr>קיטוב של גלי מיקרו I=I_0⁡〖〖 cos〗^2 θ〗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ממוצע משוקלל</dc:title>
  <dc:creator>Evgeny Kolonsky</dc:creator>
  <cp:lastModifiedBy>Evgeny Kolonsky</cp:lastModifiedBy>
  <cp:revision>21</cp:revision>
  <dcterms:created xsi:type="dcterms:W3CDTF">2025-07-14T06:58:00Z</dcterms:created>
  <dcterms:modified xsi:type="dcterms:W3CDTF">2025-08-24T05:44:38Z</dcterms:modified>
</cp:coreProperties>
</file>